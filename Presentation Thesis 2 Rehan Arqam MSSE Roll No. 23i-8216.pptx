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78" r:id="rId3"/>
    <p:sldId id="295" r:id="rId4"/>
    <p:sldId id="257" r:id="rId5"/>
    <p:sldId id="294" r:id="rId6"/>
    <p:sldId id="296" r:id="rId7"/>
    <p:sldId id="297" r:id="rId8"/>
    <p:sldId id="298" r:id="rId9"/>
    <p:sldId id="300" r:id="rId10"/>
    <p:sldId id="301" r:id="rId11"/>
    <p:sldId id="302" r:id="rId12"/>
    <p:sldId id="303" r:id="rId13"/>
    <p:sldId id="304" r:id="rId14"/>
    <p:sldId id="305" r:id="rId15"/>
    <p:sldId id="306" r:id="rId16"/>
    <p:sldId id="317" r:id="rId17"/>
    <p:sldId id="318" r:id="rId18"/>
    <p:sldId id="307" r:id="rId19"/>
    <p:sldId id="308" r:id="rId20"/>
    <p:sldId id="309" r:id="rId21"/>
    <p:sldId id="310" r:id="rId22"/>
    <p:sldId id="311" r:id="rId23"/>
    <p:sldId id="312" r:id="rId24"/>
    <p:sldId id="315" r:id="rId25"/>
    <p:sldId id="316" r:id="rId26"/>
    <p:sldId id="313" r:id="rId27"/>
    <p:sldId id="314"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5279BA-7896-4A30-BF27-0A38016F5DB6}" type="datetimeFigureOut">
              <a:rPr lang="en-US" smtClean="0"/>
              <a:t>1/23/2026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3A5EE0-AA42-48A6-B36D-3B98ACE9B39D}" type="slidenum">
              <a:rPr lang="en-US" smtClean="0"/>
              <a:t>‹#›</a:t>
            </a:fld>
            <a:endParaRPr lang="en-US"/>
          </a:p>
        </p:txBody>
      </p:sp>
    </p:spTree>
    <p:extLst>
      <p:ext uri="{BB962C8B-B14F-4D97-AF65-F5344CB8AC3E}">
        <p14:creationId xmlns:p14="http://schemas.microsoft.com/office/powerpoint/2010/main" val="41346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included this portion so that we can start from where we left it. Your experience in research will help me improving this. Regards.</a:t>
            </a:r>
          </a:p>
        </p:txBody>
      </p:sp>
      <p:sp>
        <p:nvSpPr>
          <p:cNvPr id="4" name="Slide Number Placeholder 3"/>
          <p:cNvSpPr>
            <a:spLocks noGrp="1"/>
          </p:cNvSpPr>
          <p:nvPr>
            <p:ph type="sldNum" sz="quarter" idx="5"/>
          </p:nvPr>
        </p:nvSpPr>
        <p:spPr/>
        <p:txBody>
          <a:bodyPr/>
          <a:lstStyle/>
          <a:p>
            <a:fld id="{803A5EE0-AA42-48A6-B36D-3B98ACE9B39D}" type="slidenum">
              <a:rPr lang="en-US" smtClean="0"/>
              <a:t>2</a:t>
            </a:fld>
            <a:endParaRPr lang="en-US"/>
          </a:p>
        </p:txBody>
      </p:sp>
    </p:spTree>
    <p:extLst>
      <p:ext uri="{BB962C8B-B14F-4D97-AF65-F5344CB8AC3E}">
        <p14:creationId xmlns:p14="http://schemas.microsoft.com/office/powerpoint/2010/main" val="982880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3</a:t>
            </a:fld>
            <a:endParaRPr lang="en-US"/>
          </a:p>
        </p:txBody>
      </p:sp>
    </p:spTree>
    <p:extLst>
      <p:ext uri="{BB962C8B-B14F-4D97-AF65-F5344CB8AC3E}">
        <p14:creationId xmlns:p14="http://schemas.microsoft.com/office/powerpoint/2010/main" val="3335325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4</a:t>
            </a:fld>
            <a:endParaRPr lang="en-US"/>
          </a:p>
        </p:txBody>
      </p:sp>
    </p:spTree>
    <p:extLst>
      <p:ext uri="{BB962C8B-B14F-4D97-AF65-F5344CB8AC3E}">
        <p14:creationId xmlns:p14="http://schemas.microsoft.com/office/powerpoint/2010/main" val="39533229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6</a:t>
            </a:fld>
            <a:endParaRPr lang="en-US"/>
          </a:p>
        </p:txBody>
      </p:sp>
    </p:spTree>
    <p:extLst>
      <p:ext uri="{BB962C8B-B14F-4D97-AF65-F5344CB8AC3E}">
        <p14:creationId xmlns:p14="http://schemas.microsoft.com/office/powerpoint/2010/main" val="3726379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7</a:t>
            </a:fld>
            <a:endParaRPr lang="en-US"/>
          </a:p>
        </p:txBody>
      </p:sp>
    </p:spTree>
    <p:extLst>
      <p:ext uri="{BB962C8B-B14F-4D97-AF65-F5344CB8AC3E}">
        <p14:creationId xmlns:p14="http://schemas.microsoft.com/office/powerpoint/2010/main" val="1009798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8</a:t>
            </a:fld>
            <a:endParaRPr lang="en-US"/>
          </a:p>
        </p:txBody>
      </p:sp>
    </p:spTree>
    <p:extLst>
      <p:ext uri="{BB962C8B-B14F-4D97-AF65-F5344CB8AC3E}">
        <p14:creationId xmlns:p14="http://schemas.microsoft.com/office/powerpoint/2010/main" val="1232880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9</a:t>
            </a:fld>
            <a:endParaRPr lang="en-US"/>
          </a:p>
        </p:txBody>
      </p:sp>
    </p:spTree>
    <p:extLst>
      <p:ext uri="{BB962C8B-B14F-4D97-AF65-F5344CB8AC3E}">
        <p14:creationId xmlns:p14="http://schemas.microsoft.com/office/powerpoint/2010/main" val="16784043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10</a:t>
            </a:fld>
            <a:endParaRPr lang="en-US"/>
          </a:p>
        </p:txBody>
      </p:sp>
    </p:spTree>
    <p:extLst>
      <p:ext uri="{BB962C8B-B14F-4D97-AF65-F5344CB8AC3E}">
        <p14:creationId xmlns:p14="http://schemas.microsoft.com/office/powerpoint/2010/main" val="2328059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solidFill>
                  <a:srgbClr val="FF0000"/>
                </a:solidFill>
              </a:rPr>
              <a:t>Real IBM Hardware* by the fitted scaling exponent</a:t>
            </a:r>
          </a:p>
        </p:txBody>
      </p:sp>
      <p:sp>
        <p:nvSpPr>
          <p:cNvPr id="4" name="Slide Number Placeholder 3"/>
          <p:cNvSpPr>
            <a:spLocks noGrp="1"/>
          </p:cNvSpPr>
          <p:nvPr>
            <p:ph type="sldNum" sz="quarter" idx="5"/>
          </p:nvPr>
        </p:nvSpPr>
        <p:spPr/>
        <p:txBody>
          <a:bodyPr/>
          <a:lstStyle/>
          <a:p>
            <a:fld id="{803A5EE0-AA42-48A6-B36D-3B98ACE9B39D}" type="slidenum">
              <a:rPr lang="en-US" smtClean="0"/>
              <a:t>11</a:t>
            </a:fld>
            <a:endParaRPr lang="en-US"/>
          </a:p>
        </p:txBody>
      </p:sp>
    </p:spTree>
    <p:extLst>
      <p:ext uri="{BB962C8B-B14F-4D97-AF65-F5344CB8AC3E}">
        <p14:creationId xmlns:p14="http://schemas.microsoft.com/office/powerpoint/2010/main" val="1221444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12</a:t>
            </a:fld>
            <a:endParaRPr lang="en-US"/>
          </a:p>
        </p:txBody>
      </p:sp>
    </p:spTree>
    <p:extLst>
      <p:ext uri="{BB962C8B-B14F-4D97-AF65-F5344CB8AC3E}">
        <p14:creationId xmlns:p14="http://schemas.microsoft.com/office/powerpoint/2010/main" val="3034349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13</a:t>
            </a:fld>
            <a:endParaRPr lang="en-US"/>
          </a:p>
        </p:txBody>
      </p:sp>
    </p:spTree>
    <p:extLst>
      <p:ext uri="{BB962C8B-B14F-4D97-AF65-F5344CB8AC3E}">
        <p14:creationId xmlns:p14="http://schemas.microsoft.com/office/powerpoint/2010/main" val="414416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14</a:t>
            </a:fld>
            <a:endParaRPr lang="en-US"/>
          </a:p>
        </p:txBody>
      </p:sp>
    </p:spTree>
    <p:extLst>
      <p:ext uri="{BB962C8B-B14F-4D97-AF65-F5344CB8AC3E}">
        <p14:creationId xmlns:p14="http://schemas.microsoft.com/office/powerpoint/2010/main" val="1222913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15</a:t>
            </a:fld>
            <a:endParaRPr lang="en-US"/>
          </a:p>
        </p:txBody>
      </p:sp>
    </p:spTree>
    <p:extLst>
      <p:ext uri="{BB962C8B-B14F-4D97-AF65-F5344CB8AC3E}">
        <p14:creationId xmlns:p14="http://schemas.microsoft.com/office/powerpoint/2010/main" val="3525233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16</a:t>
            </a:fld>
            <a:endParaRPr lang="en-US"/>
          </a:p>
        </p:txBody>
      </p:sp>
    </p:spTree>
    <p:extLst>
      <p:ext uri="{BB962C8B-B14F-4D97-AF65-F5344CB8AC3E}">
        <p14:creationId xmlns:p14="http://schemas.microsoft.com/office/powerpoint/2010/main" val="302321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17</a:t>
            </a:fld>
            <a:endParaRPr lang="en-US"/>
          </a:p>
        </p:txBody>
      </p:sp>
    </p:spTree>
    <p:extLst>
      <p:ext uri="{BB962C8B-B14F-4D97-AF65-F5344CB8AC3E}">
        <p14:creationId xmlns:p14="http://schemas.microsoft.com/office/powerpoint/2010/main" val="4332482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t>Total instances 56; Some Hardware share common benchmarking efficiency</a:t>
            </a:r>
          </a:p>
        </p:txBody>
      </p:sp>
      <p:sp>
        <p:nvSpPr>
          <p:cNvPr id="4" name="Slide Number Placeholder 3"/>
          <p:cNvSpPr>
            <a:spLocks noGrp="1"/>
          </p:cNvSpPr>
          <p:nvPr>
            <p:ph type="sldNum" sz="quarter" idx="5"/>
          </p:nvPr>
        </p:nvSpPr>
        <p:spPr/>
        <p:txBody>
          <a:bodyPr/>
          <a:lstStyle/>
          <a:p>
            <a:fld id="{803A5EE0-AA42-48A6-B36D-3B98ACE9B39D}" type="slidenum">
              <a:rPr lang="en-US" smtClean="0"/>
              <a:t>18</a:t>
            </a:fld>
            <a:endParaRPr lang="en-US"/>
          </a:p>
        </p:txBody>
      </p:sp>
    </p:spTree>
    <p:extLst>
      <p:ext uri="{BB962C8B-B14F-4D97-AF65-F5344CB8AC3E}">
        <p14:creationId xmlns:p14="http://schemas.microsoft.com/office/powerpoint/2010/main" val="15131333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19</a:t>
            </a:fld>
            <a:endParaRPr lang="en-US"/>
          </a:p>
        </p:txBody>
      </p:sp>
    </p:spTree>
    <p:extLst>
      <p:ext uri="{BB962C8B-B14F-4D97-AF65-F5344CB8AC3E}">
        <p14:creationId xmlns:p14="http://schemas.microsoft.com/office/powerpoint/2010/main" val="3867907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20</a:t>
            </a:fld>
            <a:endParaRPr lang="en-US"/>
          </a:p>
        </p:txBody>
      </p:sp>
    </p:spTree>
    <p:extLst>
      <p:ext uri="{BB962C8B-B14F-4D97-AF65-F5344CB8AC3E}">
        <p14:creationId xmlns:p14="http://schemas.microsoft.com/office/powerpoint/2010/main" val="389931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21</a:t>
            </a:fld>
            <a:endParaRPr lang="en-US"/>
          </a:p>
        </p:txBody>
      </p:sp>
    </p:spTree>
    <p:extLst>
      <p:ext uri="{BB962C8B-B14F-4D97-AF65-F5344CB8AC3E}">
        <p14:creationId xmlns:p14="http://schemas.microsoft.com/office/powerpoint/2010/main" val="3478072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22</a:t>
            </a:fld>
            <a:endParaRPr lang="en-US"/>
          </a:p>
        </p:txBody>
      </p:sp>
    </p:spTree>
    <p:extLst>
      <p:ext uri="{BB962C8B-B14F-4D97-AF65-F5344CB8AC3E}">
        <p14:creationId xmlns:p14="http://schemas.microsoft.com/office/powerpoint/2010/main" val="4061449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23</a:t>
            </a:fld>
            <a:endParaRPr lang="en-US"/>
          </a:p>
        </p:txBody>
      </p:sp>
    </p:spTree>
    <p:extLst>
      <p:ext uri="{BB962C8B-B14F-4D97-AF65-F5344CB8AC3E}">
        <p14:creationId xmlns:p14="http://schemas.microsoft.com/office/powerpoint/2010/main" val="20830574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24</a:t>
            </a:fld>
            <a:endParaRPr lang="en-US"/>
          </a:p>
        </p:txBody>
      </p:sp>
    </p:spTree>
    <p:extLst>
      <p:ext uri="{BB962C8B-B14F-4D97-AF65-F5344CB8AC3E}">
        <p14:creationId xmlns:p14="http://schemas.microsoft.com/office/powerpoint/2010/main" val="34543776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imes New Roman" panose="02020603050405020304" pitchFamily="18" charset="0"/>
                <a:cs typeface="Times New Roman" panose="02020603050405020304" pitchFamily="18" charset="0"/>
              </a:rPr>
              <a:t>(Screenshot proof has been provided in the previous slides)</a:t>
            </a:r>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25</a:t>
            </a:fld>
            <a:endParaRPr lang="en-US"/>
          </a:p>
        </p:txBody>
      </p:sp>
    </p:spTree>
    <p:extLst>
      <p:ext uri="{BB962C8B-B14F-4D97-AF65-F5344CB8AC3E}">
        <p14:creationId xmlns:p14="http://schemas.microsoft.com/office/powerpoint/2010/main" val="3788430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26</a:t>
            </a:fld>
            <a:endParaRPr lang="en-US"/>
          </a:p>
        </p:txBody>
      </p:sp>
    </p:spTree>
    <p:extLst>
      <p:ext uri="{BB962C8B-B14F-4D97-AF65-F5344CB8AC3E}">
        <p14:creationId xmlns:p14="http://schemas.microsoft.com/office/powerpoint/2010/main" val="23754368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3A5EE0-AA42-48A6-B36D-3B98ACE9B39D}" type="slidenum">
              <a:rPr lang="en-US" smtClean="0"/>
              <a:t>27</a:t>
            </a:fld>
            <a:endParaRPr lang="en-US"/>
          </a:p>
        </p:txBody>
      </p:sp>
    </p:spTree>
    <p:extLst>
      <p:ext uri="{BB962C8B-B14F-4D97-AF65-F5344CB8AC3E}">
        <p14:creationId xmlns:p14="http://schemas.microsoft.com/office/powerpoint/2010/main" val="131197951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2130425"/>
            <a:ext cx="7772400" cy="1470025"/>
          </a:xfrm>
        </p:spPr>
        <p:txBody>
          <a:bodyPr/>
          <a:lstStyle>
            <a:lvl1pPr>
              <a:defRPr/>
            </a:lvl1pPr>
          </a:lstStyle>
          <a:p>
            <a:r>
              <a:rPr lang="en-US" dirty="0"/>
              <a:t>Thesis Title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baseline="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endParaRPr lang="en-US" dirty="0"/>
          </a:p>
        </p:txBody>
      </p:sp>
      <p:sp>
        <p:nvSpPr>
          <p:cNvPr id="4" name="Date Placeholder 3"/>
          <p:cNvSpPr>
            <a:spLocks noGrp="1"/>
          </p:cNvSpPr>
          <p:nvPr>
            <p:ph type="dt" sz="half" idx="10"/>
          </p:nvPr>
        </p:nvSpPr>
        <p:spPr/>
        <p:txBody>
          <a:bodyPr/>
          <a:lstStyle/>
          <a:p>
            <a:fld id="{3709FCC5-7003-45F3-9EA2-3EB820BCC87C}" type="datetime1">
              <a:rPr lang="en-US" smtClean="0"/>
              <a:t>1/23/2026</a:t>
            </a:fld>
            <a:endParaRPr lang="en-US" dirty="0"/>
          </a:p>
        </p:txBody>
      </p:sp>
      <p:sp>
        <p:nvSpPr>
          <p:cNvPr id="5" name="Footer Placeholder 4"/>
          <p:cNvSpPr>
            <a:spLocks noGrp="1"/>
          </p:cNvSpPr>
          <p:nvPr>
            <p:ph type="ftr" sz="quarter" idx="11"/>
          </p:nvPr>
        </p:nvSpPr>
        <p:spPr/>
        <p:txBody>
          <a:bodyPr/>
          <a:lstStyle/>
          <a:p>
            <a:r>
              <a:rPr lang="en-US" dirty="0"/>
              <a:t>MS Proposal Defense</a:t>
            </a:r>
          </a:p>
        </p:txBody>
      </p:sp>
      <p:sp>
        <p:nvSpPr>
          <p:cNvPr id="6" name="Slide Number Placeholder 5"/>
          <p:cNvSpPr>
            <a:spLocks noGrp="1"/>
          </p:cNvSpPr>
          <p:nvPr>
            <p:ph type="sldNum" sz="quarter" idx="12"/>
          </p:nvPr>
        </p:nvSpPr>
        <p:spPr/>
        <p:txBody>
          <a:bodyPr/>
          <a:lstStyle/>
          <a:p>
            <a:fld id="{80874811-05C0-4C2E-9704-E022B0660C7C}" type="slidenum">
              <a:rPr lang="en-US" smtClean="0"/>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78000" y="403225"/>
            <a:ext cx="5092700" cy="1273175"/>
          </a:xfrm>
          <a:prstGeom prst="rect">
            <a:avLst/>
          </a:prstGeom>
        </p:spPr>
      </p:pic>
    </p:spTree>
    <p:extLst>
      <p:ext uri="{BB962C8B-B14F-4D97-AF65-F5344CB8AC3E}">
        <p14:creationId xmlns:p14="http://schemas.microsoft.com/office/powerpoint/2010/main" val="3132567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F1203F-B3B6-4D73-8F0F-2F9E00B78342}" type="datetime1">
              <a:rPr lang="en-US" smtClean="0"/>
              <a:t>1/23/2026</a:t>
            </a:fld>
            <a:endParaRPr lang="en-US"/>
          </a:p>
        </p:txBody>
      </p:sp>
      <p:sp>
        <p:nvSpPr>
          <p:cNvPr id="5" name="Footer Placeholder 4"/>
          <p:cNvSpPr>
            <a:spLocks noGrp="1"/>
          </p:cNvSpPr>
          <p:nvPr>
            <p:ph type="ftr" sz="quarter" idx="11"/>
          </p:nvPr>
        </p:nvSpPr>
        <p:spPr/>
        <p:txBody>
          <a:bodyPr/>
          <a:lstStyle/>
          <a:p>
            <a:r>
              <a:rPr lang="en-US"/>
              <a:t>MS Proposal Defense</a:t>
            </a:r>
          </a:p>
        </p:txBody>
      </p:sp>
      <p:sp>
        <p:nvSpPr>
          <p:cNvPr id="6" name="Slide Number Placeholder 5"/>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3769083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D24652A-1F0D-4EC1-BE3A-F3969B2990E3}" type="datetime1">
              <a:rPr lang="en-US" smtClean="0"/>
              <a:t>1/23/2026</a:t>
            </a:fld>
            <a:endParaRPr lang="en-US"/>
          </a:p>
        </p:txBody>
      </p:sp>
      <p:sp>
        <p:nvSpPr>
          <p:cNvPr id="5" name="Footer Placeholder 4"/>
          <p:cNvSpPr>
            <a:spLocks noGrp="1"/>
          </p:cNvSpPr>
          <p:nvPr>
            <p:ph type="ftr" sz="quarter" idx="11"/>
          </p:nvPr>
        </p:nvSpPr>
        <p:spPr/>
        <p:txBody>
          <a:bodyPr/>
          <a:lstStyle/>
          <a:p>
            <a:r>
              <a:rPr lang="en-US"/>
              <a:t>MS Proposal Defense</a:t>
            </a:r>
          </a:p>
        </p:txBody>
      </p:sp>
      <p:sp>
        <p:nvSpPr>
          <p:cNvPr id="6" name="Slide Number Placeholder 5"/>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2506514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7C03A4-3C81-4659-85EE-160FDD520A2D}" type="datetime1">
              <a:rPr lang="en-US" smtClean="0"/>
              <a:t>1/23/2026</a:t>
            </a:fld>
            <a:endParaRPr lang="en-US"/>
          </a:p>
        </p:txBody>
      </p:sp>
      <p:sp>
        <p:nvSpPr>
          <p:cNvPr id="5" name="Footer Placeholder 4"/>
          <p:cNvSpPr>
            <a:spLocks noGrp="1"/>
          </p:cNvSpPr>
          <p:nvPr>
            <p:ph type="ftr" sz="quarter" idx="11"/>
          </p:nvPr>
        </p:nvSpPr>
        <p:spPr/>
        <p:txBody>
          <a:bodyPr/>
          <a:lstStyle/>
          <a:p>
            <a:r>
              <a:rPr lang="en-US"/>
              <a:t>MS Proposal Defense</a:t>
            </a:r>
          </a:p>
        </p:txBody>
      </p:sp>
      <p:sp>
        <p:nvSpPr>
          <p:cNvPr id="6" name="Slide Number Placeholder 5"/>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1628246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E5FA665-FBFB-4332-813F-2FD0EF6EE74F}" type="datetime1">
              <a:rPr lang="en-US" smtClean="0"/>
              <a:t>1/23/2026</a:t>
            </a:fld>
            <a:endParaRPr lang="en-US"/>
          </a:p>
        </p:txBody>
      </p:sp>
      <p:sp>
        <p:nvSpPr>
          <p:cNvPr id="6" name="Footer Placeholder 5"/>
          <p:cNvSpPr>
            <a:spLocks noGrp="1"/>
          </p:cNvSpPr>
          <p:nvPr>
            <p:ph type="ftr" sz="quarter" idx="11"/>
          </p:nvPr>
        </p:nvSpPr>
        <p:spPr/>
        <p:txBody>
          <a:bodyPr/>
          <a:lstStyle/>
          <a:p>
            <a:r>
              <a:rPr lang="en-US"/>
              <a:t>MS Proposal Defense</a:t>
            </a:r>
          </a:p>
        </p:txBody>
      </p:sp>
      <p:sp>
        <p:nvSpPr>
          <p:cNvPr id="7" name="Slide Number Placeholder 6"/>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796579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ABA1F11-19F3-4B13-96F6-5C354D3F01C1}" type="datetime1">
              <a:rPr lang="en-US" smtClean="0"/>
              <a:t>1/23/2026</a:t>
            </a:fld>
            <a:endParaRPr lang="en-US"/>
          </a:p>
        </p:txBody>
      </p:sp>
      <p:sp>
        <p:nvSpPr>
          <p:cNvPr id="8" name="Footer Placeholder 7"/>
          <p:cNvSpPr>
            <a:spLocks noGrp="1"/>
          </p:cNvSpPr>
          <p:nvPr>
            <p:ph type="ftr" sz="quarter" idx="11"/>
          </p:nvPr>
        </p:nvSpPr>
        <p:spPr/>
        <p:txBody>
          <a:bodyPr/>
          <a:lstStyle/>
          <a:p>
            <a:r>
              <a:rPr lang="en-US"/>
              <a:t>MS Proposal Defense</a:t>
            </a:r>
          </a:p>
        </p:txBody>
      </p:sp>
      <p:sp>
        <p:nvSpPr>
          <p:cNvPr id="9" name="Slide Number Placeholder 8"/>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61908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750EB6-0F8B-4E45-9FCF-8322A53FB59D}" type="datetime1">
              <a:rPr lang="en-US" smtClean="0"/>
              <a:t>1/23/2026</a:t>
            </a:fld>
            <a:endParaRPr lang="en-US"/>
          </a:p>
        </p:txBody>
      </p:sp>
      <p:sp>
        <p:nvSpPr>
          <p:cNvPr id="4" name="Footer Placeholder 3"/>
          <p:cNvSpPr>
            <a:spLocks noGrp="1"/>
          </p:cNvSpPr>
          <p:nvPr>
            <p:ph type="ftr" sz="quarter" idx="11"/>
          </p:nvPr>
        </p:nvSpPr>
        <p:spPr/>
        <p:txBody>
          <a:bodyPr/>
          <a:lstStyle/>
          <a:p>
            <a:r>
              <a:rPr lang="en-US"/>
              <a:t>MS Proposal Defense</a:t>
            </a:r>
          </a:p>
        </p:txBody>
      </p:sp>
      <p:sp>
        <p:nvSpPr>
          <p:cNvPr id="5" name="Slide Number Placeholder 4"/>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1937065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F3190A-5795-4728-94D9-378F955BDA12}" type="datetime1">
              <a:rPr lang="en-US" smtClean="0"/>
              <a:t>1/23/2026</a:t>
            </a:fld>
            <a:endParaRPr lang="en-US"/>
          </a:p>
        </p:txBody>
      </p:sp>
      <p:sp>
        <p:nvSpPr>
          <p:cNvPr id="3" name="Footer Placeholder 2"/>
          <p:cNvSpPr>
            <a:spLocks noGrp="1"/>
          </p:cNvSpPr>
          <p:nvPr>
            <p:ph type="ftr" sz="quarter" idx="11"/>
          </p:nvPr>
        </p:nvSpPr>
        <p:spPr/>
        <p:txBody>
          <a:bodyPr/>
          <a:lstStyle/>
          <a:p>
            <a:r>
              <a:rPr lang="en-US"/>
              <a:t>MS Proposal Defense</a:t>
            </a:r>
          </a:p>
        </p:txBody>
      </p:sp>
      <p:sp>
        <p:nvSpPr>
          <p:cNvPr id="4" name="Slide Number Placeholder 3"/>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3859223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DAF2A1-B429-4BD1-84EA-DE047CC17B8D}" type="datetime1">
              <a:rPr lang="en-US" smtClean="0"/>
              <a:t>1/23/2026</a:t>
            </a:fld>
            <a:endParaRPr lang="en-US"/>
          </a:p>
        </p:txBody>
      </p:sp>
      <p:sp>
        <p:nvSpPr>
          <p:cNvPr id="6" name="Footer Placeholder 5"/>
          <p:cNvSpPr>
            <a:spLocks noGrp="1"/>
          </p:cNvSpPr>
          <p:nvPr>
            <p:ph type="ftr" sz="quarter" idx="11"/>
          </p:nvPr>
        </p:nvSpPr>
        <p:spPr/>
        <p:txBody>
          <a:bodyPr/>
          <a:lstStyle/>
          <a:p>
            <a:r>
              <a:rPr lang="en-US"/>
              <a:t>MS Proposal Defense</a:t>
            </a:r>
          </a:p>
        </p:txBody>
      </p:sp>
      <p:sp>
        <p:nvSpPr>
          <p:cNvPr id="7" name="Slide Number Placeholder 6"/>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1832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9D175A-D30B-4C78-9654-D50B2FC7129C}" type="datetime1">
              <a:rPr lang="en-US" smtClean="0"/>
              <a:t>1/23/2026</a:t>
            </a:fld>
            <a:endParaRPr lang="en-US"/>
          </a:p>
        </p:txBody>
      </p:sp>
      <p:sp>
        <p:nvSpPr>
          <p:cNvPr id="6" name="Footer Placeholder 5"/>
          <p:cNvSpPr>
            <a:spLocks noGrp="1"/>
          </p:cNvSpPr>
          <p:nvPr>
            <p:ph type="ftr" sz="quarter" idx="11"/>
          </p:nvPr>
        </p:nvSpPr>
        <p:spPr/>
        <p:txBody>
          <a:bodyPr/>
          <a:lstStyle/>
          <a:p>
            <a:r>
              <a:rPr lang="en-US"/>
              <a:t>MS Proposal Defense</a:t>
            </a:r>
          </a:p>
        </p:txBody>
      </p:sp>
      <p:sp>
        <p:nvSpPr>
          <p:cNvPr id="7" name="Slide Number Placeholder 6"/>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3826264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8A0CED-DC4C-41D4-874B-D252619C1C3B}" type="datetime1">
              <a:rPr lang="en-US" smtClean="0"/>
              <a:t>1/23/2026</a:t>
            </a:fld>
            <a:endParaRPr lang="en-US"/>
          </a:p>
        </p:txBody>
      </p:sp>
      <p:sp>
        <p:nvSpPr>
          <p:cNvPr id="5" name="Footer Placeholder 4"/>
          <p:cNvSpPr>
            <a:spLocks noGrp="1"/>
          </p:cNvSpPr>
          <p:nvPr>
            <p:ph type="ftr" sz="quarter" idx="11"/>
          </p:nvPr>
        </p:nvSpPr>
        <p:spPr/>
        <p:txBody>
          <a:bodyPr/>
          <a:lstStyle/>
          <a:p>
            <a:r>
              <a:rPr lang="en-US"/>
              <a:t>MS Proposal Defense</a:t>
            </a:r>
          </a:p>
        </p:txBody>
      </p:sp>
      <p:sp>
        <p:nvSpPr>
          <p:cNvPr id="6" name="Slide Number Placeholder 5"/>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7624685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047479-EB80-4058-B43A-4F0A7B3E2667}" type="datetime1">
              <a:rPr lang="en-US" smtClean="0"/>
              <a:t>1/23/2026</a:t>
            </a:fld>
            <a:endParaRPr lang="en-US"/>
          </a:p>
        </p:txBody>
      </p:sp>
      <p:sp>
        <p:nvSpPr>
          <p:cNvPr id="5" name="Footer Placeholder 4"/>
          <p:cNvSpPr>
            <a:spLocks noGrp="1"/>
          </p:cNvSpPr>
          <p:nvPr>
            <p:ph type="ftr" sz="quarter" idx="11"/>
          </p:nvPr>
        </p:nvSpPr>
        <p:spPr/>
        <p:txBody>
          <a:bodyPr/>
          <a:lstStyle/>
          <a:p>
            <a:r>
              <a:rPr lang="en-US"/>
              <a:t>MS Proposal Defense</a:t>
            </a:r>
          </a:p>
        </p:txBody>
      </p:sp>
      <p:sp>
        <p:nvSpPr>
          <p:cNvPr id="6" name="Slide Number Placeholder 5"/>
          <p:cNvSpPr>
            <a:spLocks noGrp="1"/>
          </p:cNvSpPr>
          <p:nvPr>
            <p:ph type="sldNum" sz="quarter" idx="12"/>
          </p:nvPr>
        </p:nvSpPr>
        <p:spPr/>
        <p:txBody>
          <a:bodyPr/>
          <a:lstStyle/>
          <a:p>
            <a:fld id="{455776AC-4C38-4B11-8F6F-86E3449187BD}" type="slidenum">
              <a:rPr lang="en-US" smtClean="0"/>
              <a:t>‹#›</a:t>
            </a:fld>
            <a:endParaRPr lang="en-US"/>
          </a:p>
        </p:txBody>
      </p:sp>
    </p:spTree>
    <p:extLst>
      <p:ext uri="{BB962C8B-B14F-4D97-AF65-F5344CB8AC3E}">
        <p14:creationId xmlns:p14="http://schemas.microsoft.com/office/powerpoint/2010/main" val="1688040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C80843-6BD6-4722-849C-C92E9773E323}" type="datetime1">
              <a:rPr lang="en-US" smtClean="0"/>
              <a:t>1/23/2026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MS Proposal Defense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5776AC-4C38-4B11-8F6F-86E3449187BD}" type="slidenum">
              <a:rPr lang="en-US" smtClean="0"/>
              <a:t>‹#›</a:t>
            </a:fld>
            <a:endParaRPr lang="en-US"/>
          </a:p>
        </p:txBody>
      </p:sp>
      <p:sp>
        <p:nvSpPr>
          <p:cNvPr id="8" name="Rectangle 7"/>
          <p:cNvSpPr/>
          <p:nvPr userDrawn="1"/>
        </p:nvSpPr>
        <p:spPr>
          <a:xfrm>
            <a:off x="0" y="0"/>
            <a:ext cx="9144000" cy="38100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8179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057401"/>
            <a:ext cx="8610600" cy="2209800"/>
          </a:xfrm>
        </p:spPr>
        <p:txBody>
          <a:bodyPr>
            <a:normAutofit fontScale="90000"/>
          </a:bodyPr>
          <a:lstStyle/>
          <a:p>
            <a:r>
              <a:rPr lang="en-US" dirty="0">
                <a:latin typeface="Times New Roman" panose="02020603050405020304" pitchFamily="18" charset="0"/>
                <a:cs typeface="Times New Roman" panose="02020603050405020304" pitchFamily="18" charset="0"/>
              </a:rPr>
              <a:t>Quantum Computing vs Classical computers: A Theoretical and Empirical Study of Performance, Reliability, and Sustainability</a:t>
            </a:r>
            <a:br>
              <a:rPr lang="en-US" dirty="0"/>
            </a:br>
            <a:endParaRPr lang="en-US" dirty="0"/>
          </a:p>
        </p:txBody>
      </p:sp>
      <p:sp>
        <p:nvSpPr>
          <p:cNvPr id="3" name="Subtitle 2"/>
          <p:cNvSpPr>
            <a:spLocks noGrp="1"/>
          </p:cNvSpPr>
          <p:nvPr>
            <p:ph type="subTitle" idx="1"/>
          </p:nvPr>
        </p:nvSpPr>
        <p:spPr>
          <a:xfrm>
            <a:off x="838200" y="4419600"/>
            <a:ext cx="7315200" cy="1219200"/>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Rehan Arqam (Reg. No: 2339809 ; Roll# 23i-8216)</a:t>
            </a:r>
          </a:p>
          <a:p>
            <a:r>
              <a:rPr lang="en-US" dirty="0">
                <a:latin typeface="Times New Roman" panose="02020603050405020304" pitchFamily="18" charset="0"/>
                <a:cs typeface="Times New Roman" panose="02020603050405020304" pitchFamily="18" charset="0"/>
              </a:rPr>
              <a:t>Supervisor Name: Dr. Zeshan Khan</a:t>
            </a:r>
          </a:p>
        </p:txBody>
      </p:sp>
      <p:sp>
        <p:nvSpPr>
          <p:cNvPr id="4" name="Slide Number Placeholder 3"/>
          <p:cNvSpPr>
            <a:spLocks noGrp="1"/>
          </p:cNvSpPr>
          <p:nvPr>
            <p:ph type="sldNum" sz="quarter" idx="12"/>
          </p:nvPr>
        </p:nvSpPr>
        <p:spPr/>
        <p:txBody>
          <a:bodyPr/>
          <a:lstStyle/>
          <a:p>
            <a:fld id="{455776AC-4C38-4B11-8F6F-86E3449187BD}" type="slidenum">
              <a:rPr lang="en-US" smtClean="0"/>
              <a:t>1</a:t>
            </a:fld>
            <a:endParaRPr lang="en-US"/>
          </a:p>
        </p:txBody>
      </p:sp>
      <p:sp>
        <p:nvSpPr>
          <p:cNvPr id="5" name="Footer Placeholder 4"/>
          <p:cNvSpPr>
            <a:spLocks noGrp="1"/>
          </p:cNvSpPr>
          <p:nvPr>
            <p:ph type="ftr" sz="quarter" idx="11"/>
          </p:nvPr>
        </p:nvSpPr>
        <p:spPr/>
        <p:txBody>
          <a:bodyPr/>
          <a:lstStyle/>
          <a:p>
            <a:r>
              <a:rPr lang="en-US" dirty="0"/>
              <a:t>MS Thesis Report Final Presentation</a:t>
            </a:r>
          </a:p>
        </p:txBody>
      </p:sp>
      <p:sp>
        <p:nvSpPr>
          <p:cNvPr id="6" name="Date Placeholder 5"/>
          <p:cNvSpPr>
            <a:spLocks noGrp="1"/>
          </p:cNvSpPr>
          <p:nvPr>
            <p:ph type="dt" sz="half" idx="10"/>
          </p:nvPr>
        </p:nvSpPr>
        <p:spPr/>
        <p:txBody>
          <a:bodyPr/>
          <a:lstStyle/>
          <a:p>
            <a:fld id="{DA9DB036-8E02-400C-85AA-C73DA76EBB7E}" type="datetime1">
              <a:rPr lang="en-US" smtClean="0"/>
              <a:t>1/23/2026</a:t>
            </a:fld>
            <a:endParaRPr lang="en-US" dirty="0"/>
          </a:p>
        </p:txBody>
      </p:sp>
    </p:spTree>
    <p:extLst>
      <p:ext uri="{BB962C8B-B14F-4D97-AF65-F5344CB8AC3E}">
        <p14:creationId xmlns:p14="http://schemas.microsoft.com/office/powerpoint/2010/main" val="36241722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Continuation* from Previous…</a:t>
            </a:r>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following feedback and comments were given regarding “thesis – 1 report” in the previous semester:</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Need clarity on Evaluation methodology.</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Which algorithms to be compared and how?</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Which CPU machines (Specs) to be used?</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The comparison seems to be of apple and oranges.</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114370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Limitations</a:t>
            </a:r>
          </a:p>
        </p:txBody>
      </p:sp>
      <p:sp>
        <p:nvSpPr>
          <p:cNvPr id="3" name="Content Placeholder 2"/>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following limitations highlight the gap between the theoretical capabilities of quantum computing and its real-world performance:</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Quantum circuit depth</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Gate Fidelities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and readout errors</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3</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719615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Motivation</a:t>
            </a:r>
          </a:p>
        </p:txBody>
      </p:sp>
      <p:sp>
        <p:nvSpPr>
          <p:cNvPr id="3" name="Content Placeholder 2"/>
          <p:cNvSpPr>
            <a:spLocks noGrp="1"/>
          </p:cNvSpPr>
          <p:nvPr>
            <p:ph idx="1"/>
          </p:nvPr>
        </p:nvSpPr>
        <p:spPr>
          <a:xfrm>
            <a:off x="304800" y="1066801"/>
            <a:ext cx="8610600" cy="4364502"/>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1. End of Moore’s Law &amp; limitations in physical strength of Classical computing paradigms</a:t>
            </a:r>
          </a:p>
          <a:p>
            <a:pPr marL="0" lvl="0" indent="0" algn="just">
              <a:buNone/>
            </a:pPr>
            <a:r>
              <a:rPr lang="en-US" sz="2400" dirty="0">
                <a:latin typeface="Times New Roman" panose="02020603050405020304" pitchFamily="18" charset="0"/>
                <a:cs typeface="Times New Roman" panose="02020603050405020304" pitchFamily="18" charset="0"/>
              </a:rPr>
              <a:t>2. Carbon Footprints and their impact on Global environment</a:t>
            </a:r>
          </a:p>
          <a:p>
            <a:pPr marL="0" lvl="0" indent="0" algn="just">
              <a:buNone/>
            </a:pPr>
            <a:r>
              <a:rPr lang="en-US" sz="2400" dirty="0">
                <a:latin typeface="Times New Roman" panose="02020603050405020304" pitchFamily="18" charset="0"/>
                <a:cs typeface="Times New Roman" panose="02020603050405020304" pitchFamily="18" charset="0"/>
              </a:rPr>
              <a:t>3. Device Sustainability &amp; Reliability Concerns</a:t>
            </a:r>
          </a:p>
          <a:p>
            <a:pPr marL="0" indent="0" algn="just">
              <a:buNone/>
            </a:pPr>
            <a:r>
              <a:rPr lang="en-US" sz="2400" dirty="0">
                <a:latin typeface="Times New Roman" panose="02020603050405020304" pitchFamily="18" charset="0"/>
                <a:cs typeface="Times New Roman" panose="02020603050405020304" pitchFamily="18" charset="0"/>
              </a:rPr>
              <a:t>4. The theoretical potential of quantum computing has been widely explored by researchers. </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4</a:t>
            </a:fld>
            <a:endParaRPr lang="en-US"/>
          </a:p>
        </p:txBody>
      </p:sp>
      <p:sp>
        <p:nvSpPr>
          <p:cNvPr id="6" name="Date Placeholder 5"/>
          <p:cNvSpPr>
            <a:spLocks noGrp="1"/>
          </p:cNvSpPr>
          <p:nvPr>
            <p:ph type="dt" sz="half" idx="10"/>
          </p:nvPr>
        </p:nvSpPr>
        <p:spPr/>
        <p:txBody>
          <a:bodyPr/>
          <a:lstStyle/>
          <a:p>
            <a:fld id="{56A0EEED-1BCB-44C9-B699-D6AE042B45C9}" type="datetime1">
              <a:rPr lang="en-US" smtClean="0"/>
              <a:t>1/23/2026</a:t>
            </a:fld>
            <a:endParaRPr lang="en-US"/>
          </a:p>
        </p:txBody>
      </p:sp>
    </p:spTree>
    <p:extLst>
      <p:ext uri="{BB962C8B-B14F-4D97-AF65-F5344CB8AC3E}">
        <p14:creationId xmlns:p14="http://schemas.microsoft.com/office/powerpoint/2010/main" val="4085005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Methodology</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5</a:t>
            </a:fld>
            <a:endParaRPr lang="en-US" dirty="0"/>
          </a:p>
        </p:txBody>
      </p:sp>
      <p:sp>
        <p:nvSpPr>
          <p:cNvPr id="6" name="Date Placeholder 5"/>
          <p:cNvSpPr>
            <a:spLocks noGrp="1"/>
          </p:cNvSpPr>
          <p:nvPr>
            <p:ph type="dt" sz="half" idx="10"/>
          </p:nvPr>
        </p:nvSpPr>
        <p:spPr/>
        <p:txBody>
          <a:bodyPr/>
          <a:lstStyle/>
          <a:p>
            <a:fld id="{AD380A01-9EE6-433F-82D0-C0BEE9F4908B}" type="datetime1">
              <a:rPr lang="en-US" smtClean="0"/>
              <a:t>1/23/2026</a:t>
            </a:fld>
            <a:endParaRPr lang="en-US" dirty="0"/>
          </a:p>
        </p:txBody>
      </p:sp>
      <p:pic>
        <p:nvPicPr>
          <p:cNvPr id="8" name="Picture 7">
            <a:extLst>
              <a:ext uri="{FF2B5EF4-FFF2-40B4-BE49-F238E27FC236}">
                <a16:creationId xmlns:a16="http://schemas.microsoft.com/office/drawing/2014/main" id="{89E2CB79-7E30-4E94-BC43-31483B78B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19200"/>
            <a:ext cx="8610600" cy="5137150"/>
          </a:xfrm>
          <a:prstGeom prst="rect">
            <a:avLst/>
          </a:prstGeom>
        </p:spPr>
      </p:pic>
    </p:spTree>
    <p:extLst>
      <p:ext uri="{BB962C8B-B14F-4D97-AF65-F5344CB8AC3E}">
        <p14:creationId xmlns:p14="http://schemas.microsoft.com/office/powerpoint/2010/main" val="1827492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Findings</a:t>
            </a:r>
          </a:p>
        </p:txBody>
      </p:sp>
      <p:pic>
        <p:nvPicPr>
          <p:cNvPr id="8" name="Content Placeholder 7">
            <a:extLst>
              <a:ext uri="{FF2B5EF4-FFF2-40B4-BE49-F238E27FC236}">
                <a16:creationId xmlns:a16="http://schemas.microsoft.com/office/drawing/2014/main" id="{3ED32A99-6604-4829-87F3-DDE7859DC99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8146" y="1143000"/>
            <a:ext cx="8773454" cy="5213350"/>
          </a:xfrm>
        </p:spPr>
      </p:pic>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6</a:t>
            </a:fld>
            <a:endParaRPr lang="en-US"/>
          </a:p>
        </p:txBody>
      </p:sp>
      <p:sp>
        <p:nvSpPr>
          <p:cNvPr id="6" name="Date Placeholder 5"/>
          <p:cNvSpPr>
            <a:spLocks noGrp="1"/>
          </p:cNvSpPr>
          <p:nvPr>
            <p:ph type="dt" sz="half" idx="10"/>
          </p:nvPr>
        </p:nvSpPr>
        <p:spPr/>
        <p:txBody>
          <a:bodyPr/>
          <a:lstStyle/>
          <a:p>
            <a:fld id="{56A0EEED-1BCB-44C9-B699-D6AE042B45C9}" type="datetime1">
              <a:rPr lang="en-US" smtClean="0"/>
              <a:t>1/23/2026</a:t>
            </a:fld>
            <a:endParaRPr lang="en-US"/>
          </a:p>
        </p:txBody>
      </p:sp>
    </p:spTree>
    <p:extLst>
      <p:ext uri="{BB962C8B-B14F-4D97-AF65-F5344CB8AC3E}">
        <p14:creationId xmlns:p14="http://schemas.microsoft.com/office/powerpoint/2010/main" val="2636270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Findings</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7</a:t>
            </a:fld>
            <a:endParaRPr lang="en-US"/>
          </a:p>
        </p:txBody>
      </p:sp>
      <p:sp>
        <p:nvSpPr>
          <p:cNvPr id="6" name="Date Placeholder 5"/>
          <p:cNvSpPr>
            <a:spLocks noGrp="1"/>
          </p:cNvSpPr>
          <p:nvPr>
            <p:ph type="dt" sz="half" idx="10"/>
          </p:nvPr>
        </p:nvSpPr>
        <p:spPr/>
        <p:txBody>
          <a:bodyPr/>
          <a:lstStyle/>
          <a:p>
            <a:fld id="{56A0EEED-1BCB-44C9-B699-D6AE042B45C9}" type="datetime1">
              <a:rPr lang="en-US" smtClean="0"/>
              <a:t>1/23/2026</a:t>
            </a:fld>
            <a:endParaRPr lang="en-US"/>
          </a:p>
        </p:txBody>
      </p:sp>
      <p:pic>
        <p:nvPicPr>
          <p:cNvPr id="10" name="Picture 9">
            <a:extLst>
              <a:ext uri="{FF2B5EF4-FFF2-40B4-BE49-F238E27FC236}">
                <a16:creationId xmlns:a16="http://schemas.microsoft.com/office/drawing/2014/main" id="{E0AD168D-423B-499C-9944-923B845D81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143000"/>
            <a:ext cx="8534400" cy="5213350"/>
          </a:xfrm>
          <a:prstGeom prst="rect">
            <a:avLst/>
          </a:prstGeom>
        </p:spPr>
      </p:pic>
    </p:spTree>
    <p:extLst>
      <p:ext uri="{BB962C8B-B14F-4D97-AF65-F5344CB8AC3E}">
        <p14:creationId xmlns:p14="http://schemas.microsoft.com/office/powerpoint/2010/main" val="2169704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74638"/>
            <a:ext cx="8610600" cy="1143000"/>
          </a:xfrm>
        </p:spPr>
        <p:txBody>
          <a:bodyPr>
            <a:noAutofit/>
          </a:bodyPr>
          <a:lstStyle/>
          <a:p>
            <a:r>
              <a:rPr lang="en-US" sz="3200" dirty="0">
                <a:latin typeface="Times New Roman" panose="02020603050405020304" pitchFamily="18" charset="0"/>
                <a:cs typeface="Times New Roman" panose="02020603050405020304" pitchFamily="18" charset="0"/>
              </a:rPr>
              <a:t>Results (Reliability of Simon’s Birthday Paradox)</a:t>
            </a:r>
          </a:p>
        </p:txBody>
      </p:sp>
      <p:sp>
        <p:nvSpPr>
          <p:cNvPr id="5" name="Slide Number Placeholder 4"/>
          <p:cNvSpPr>
            <a:spLocks noGrp="1"/>
          </p:cNvSpPr>
          <p:nvPr>
            <p:ph type="sldNum" sz="quarter" idx="12"/>
          </p:nvPr>
        </p:nvSpPr>
        <p:spPr/>
        <p:txBody>
          <a:bodyPr/>
          <a:lstStyle/>
          <a:p>
            <a:fld id="{455776AC-4C38-4B11-8F6F-86E3449187BD}" type="slidenum">
              <a:rPr lang="en-US" smtClean="0"/>
              <a:t>8</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2069831925"/>
              </p:ext>
            </p:extLst>
          </p:nvPr>
        </p:nvGraphicFramePr>
        <p:xfrm>
          <a:off x="76200" y="1219200"/>
          <a:ext cx="8915401" cy="5364162"/>
        </p:xfrm>
        <a:graphic>
          <a:graphicData uri="http://schemas.openxmlformats.org/drawingml/2006/table">
            <a:tbl>
              <a:tblPr firstRow="1" bandRow="1">
                <a:tableStyleId>{073A0DAA-6AF3-43AB-8588-CEC1D06C72B9}</a:tableStyleId>
              </a:tblPr>
              <a:tblGrid>
                <a:gridCol w="495301">
                  <a:extLst>
                    <a:ext uri="{9D8B030D-6E8A-4147-A177-3AD203B41FA5}">
                      <a16:colId xmlns:a16="http://schemas.microsoft.com/office/drawing/2014/main" val="3910533694"/>
                    </a:ext>
                  </a:extLst>
                </a:gridCol>
                <a:gridCol w="1161544">
                  <a:extLst>
                    <a:ext uri="{9D8B030D-6E8A-4147-A177-3AD203B41FA5}">
                      <a16:colId xmlns:a16="http://schemas.microsoft.com/office/drawing/2014/main" val="2595127651"/>
                    </a:ext>
                  </a:extLst>
                </a:gridCol>
                <a:gridCol w="1420152">
                  <a:extLst>
                    <a:ext uri="{9D8B030D-6E8A-4147-A177-3AD203B41FA5}">
                      <a16:colId xmlns:a16="http://schemas.microsoft.com/office/drawing/2014/main" val="3535517474"/>
                    </a:ext>
                  </a:extLst>
                </a:gridCol>
                <a:gridCol w="1183460">
                  <a:extLst>
                    <a:ext uri="{9D8B030D-6E8A-4147-A177-3AD203B41FA5}">
                      <a16:colId xmlns:a16="http://schemas.microsoft.com/office/drawing/2014/main" val="3533058432"/>
                    </a:ext>
                  </a:extLst>
                </a:gridCol>
                <a:gridCol w="1104563">
                  <a:extLst>
                    <a:ext uri="{9D8B030D-6E8A-4147-A177-3AD203B41FA5}">
                      <a16:colId xmlns:a16="http://schemas.microsoft.com/office/drawing/2014/main" val="3867688207"/>
                    </a:ext>
                  </a:extLst>
                </a:gridCol>
                <a:gridCol w="1577947">
                  <a:extLst>
                    <a:ext uri="{9D8B030D-6E8A-4147-A177-3AD203B41FA5}">
                      <a16:colId xmlns:a16="http://schemas.microsoft.com/office/drawing/2014/main" val="2883158159"/>
                    </a:ext>
                  </a:extLst>
                </a:gridCol>
                <a:gridCol w="1972434">
                  <a:extLst>
                    <a:ext uri="{9D8B030D-6E8A-4147-A177-3AD203B41FA5}">
                      <a16:colId xmlns:a16="http://schemas.microsoft.com/office/drawing/2014/main" val="1647142395"/>
                    </a:ext>
                  </a:extLst>
                </a:gridCol>
              </a:tblGrid>
              <a:tr h="1032445">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Sr. No.</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Algorithm</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Hardware</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Tested sizes</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Theoretical reliability (given)</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Empirical reliability (observed success)</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Empirical note</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1</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Simon’s Algorithm</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Classical CPU</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n = 6 → 8 → 10</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~78%</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≈70% → 10% → 0% (mean ≈ 26.7%)</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solidFill>
                            <a:srgbClr val="FFFF00"/>
                          </a:solidFill>
                          <a:effectLst/>
                          <a:highlight>
                            <a:srgbClr val="FF0000"/>
                          </a:highlight>
                          <a:latin typeface="Times New Roman" panose="02020603050405020304" pitchFamily="18" charset="0"/>
                          <a:cs typeface="Times New Roman" panose="02020603050405020304" pitchFamily="18" charset="0"/>
                        </a:rPr>
                        <a:t>Success collapses quickly as n grows in runs.</a:t>
                      </a:r>
                      <a:endParaRPr lang="en-US" sz="1600" b="1" i="0" u="none" strike="noStrike" dirty="0">
                        <a:solidFill>
                          <a:srgbClr val="FFFF00"/>
                        </a:solidFill>
                        <a:effectLst/>
                        <a:highlight>
                          <a:srgbClr val="FF0000"/>
                        </a:highligh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2</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Simon’s Algorithm</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Ideal noiseless simulator (CPU)</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n = 6 → 8 → 10</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~78%</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100% → 100% → 100% (mean 100%)</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solidFill>
                            <a:srgbClr val="00B050"/>
                          </a:solidFill>
                          <a:effectLst/>
                          <a:latin typeface="Times New Roman" panose="02020603050405020304" pitchFamily="18" charset="0"/>
                          <a:cs typeface="Times New Roman" panose="02020603050405020304" pitchFamily="18" charset="0"/>
                        </a:rPr>
                        <a:t>Always correct in the tested range (reference “gold standard”).</a:t>
                      </a:r>
                      <a:endParaRPr lang="en-US" sz="16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3</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Simon’s Algorithm</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GPU (Tesla T4)</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n = 6 → 8 → 10</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~78%</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100% → 100% → 100% (mean 100%)</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Matches ideal-sim correctness in data.</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563728446"/>
                  </a:ext>
                </a:extLst>
              </a:tr>
              <a:tr h="1032445">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4</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Simon’s Algorithm</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Real IBM quantum hardware</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n = 6 → 8 → 10</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a:effectLst/>
                          <a:latin typeface="Times New Roman" panose="02020603050405020304" pitchFamily="18" charset="0"/>
                          <a:cs typeface="Times New Roman" panose="02020603050405020304" pitchFamily="18" charset="0"/>
                        </a:rPr>
                        <a:t>~78%</a:t>
                      </a:r>
                      <a:endParaRPr lang="en-US" sz="16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100% → 100% → 100% (mean 100%)</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1600" b="1" u="none" strike="noStrike" dirty="0">
                          <a:effectLst/>
                          <a:latin typeface="Times New Roman" panose="02020603050405020304" pitchFamily="18" charset="0"/>
                          <a:cs typeface="Times New Roman" panose="02020603050405020304" pitchFamily="18" charset="0"/>
                        </a:rPr>
                        <a:t>It stayed fully correct, but slower/overhead-heavy.</a:t>
                      </a:r>
                      <a:endParaRPr lang="en-US" sz="16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207346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1" y="274638"/>
            <a:ext cx="9067800" cy="1143000"/>
          </a:xfrm>
        </p:spPr>
        <p:txBody>
          <a:bodyPr>
            <a:normAutofit fontScale="90000"/>
          </a:bodyPr>
          <a:lstStyle/>
          <a:p>
            <a:r>
              <a:rPr lang="en-US" sz="4000" dirty="0">
                <a:latin typeface="Times New Roman" panose="02020603050405020304" pitchFamily="18" charset="0"/>
                <a:cs typeface="Times New Roman" panose="02020603050405020304" pitchFamily="18" charset="0"/>
              </a:rPr>
              <a:t>Results (Reliability of Quantum Annealing)</a:t>
            </a:r>
          </a:p>
        </p:txBody>
      </p:sp>
      <p:sp>
        <p:nvSpPr>
          <p:cNvPr id="5" name="Slide Number Placeholder 4"/>
          <p:cNvSpPr>
            <a:spLocks noGrp="1"/>
          </p:cNvSpPr>
          <p:nvPr>
            <p:ph type="sldNum" sz="quarter" idx="12"/>
          </p:nvPr>
        </p:nvSpPr>
        <p:spPr/>
        <p:txBody>
          <a:bodyPr/>
          <a:lstStyle/>
          <a:p>
            <a:fld id="{455776AC-4C38-4B11-8F6F-86E3449187BD}" type="slidenum">
              <a:rPr lang="en-US" smtClean="0"/>
              <a:t>9</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1512834086"/>
              </p:ext>
            </p:extLst>
          </p:nvPr>
        </p:nvGraphicFramePr>
        <p:xfrm>
          <a:off x="76200" y="1219200"/>
          <a:ext cx="8915401" cy="5560442"/>
        </p:xfrm>
        <a:graphic>
          <a:graphicData uri="http://schemas.openxmlformats.org/drawingml/2006/table">
            <a:tbl>
              <a:tblPr firstRow="1" bandRow="1">
                <a:tableStyleId>{073A0DAA-6AF3-43AB-8588-CEC1D06C72B9}</a:tableStyleId>
              </a:tblPr>
              <a:tblGrid>
                <a:gridCol w="495301">
                  <a:extLst>
                    <a:ext uri="{9D8B030D-6E8A-4147-A177-3AD203B41FA5}">
                      <a16:colId xmlns:a16="http://schemas.microsoft.com/office/drawing/2014/main" val="3910533694"/>
                    </a:ext>
                  </a:extLst>
                </a:gridCol>
                <a:gridCol w="1028699">
                  <a:extLst>
                    <a:ext uri="{9D8B030D-6E8A-4147-A177-3AD203B41FA5}">
                      <a16:colId xmlns:a16="http://schemas.microsoft.com/office/drawing/2014/main" val="2595127651"/>
                    </a:ext>
                  </a:extLst>
                </a:gridCol>
                <a:gridCol w="1524000">
                  <a:extLst>
                    <a:ext uri="{9D8B030D-6E8A-4147-A177-3AD203B41FA5}">
                      <a16:colId xmlns:a16="http://schemas.microsoft.com/office/drawing/2014/main" val="3535517474"/>
                    </a:ext>
                  </a:extLst>
                </a:gridCol>
                <a:gridCol w="1212457">
                  <a:extLst>
                    <a:ext uri="{9D8B030D-6E8A-4147-A177-3AD203B41FA5}">
                      <a16:colId xmlns:a16="http://schemas.microsoft.com/office/drawing/2014/main" val="3533058432"/>
                    </a:ext>
                  </a:extLst>
                </a:gridCol>
                <a:gridCol w="1104563">
                  <a:extLst>
                    <a:ext uri="{9D8B030D-6E8A-4147-A177-3AD203B41FA5}">
                      <a16:colId xmlns:a16="http://schemas.microsoft.com/office/drawing/2014/main" val="3867688207"/>
                    </a:ext>
                  </a:extLst>
                </a:gridCol>
                <a:gridCol w="1577947">
                  <a:extLst>
                    <a:ext uri="{9D8B030D-6E8A-4147-A177-3AD203B41FA5}">
                      <a16:colId xmlns:a16="http://schemas.microsoft.com/office/drawing/2014/main" val="2883158159"/>
                    </a:ext>
                  </a:extLst>
                </a:gridCol>
                <a:gridCol w="1972434">
                  <a:extLst>
                    <a:ext uri="{9D8B030D-6E8A-4147-A177-3AD203B41FA5}">
                      <a16:colId xmlns:a16="http://schemas.microsoft.com/office/drawing/2014/main" val="1647142395"/>
                    </a:ext>
                  </a:extLst>
                </a:gridCol>
              </a:tblGrid>
              <a:tr h="1032445">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Sr. No.</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Algorithm</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Hardware</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Tested sizes</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Theoretical reliability (given)</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Empirical reliability (observed success)</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Empirical note</a:t>
                      </a: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tc>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Quantum Annealing</a:t>
                      </a:r>
                    </a:p>
                  </a:txBody>
                  <a:tcPr marL="9525" marR="9525" marT="9525" marB="0" anchor="ctr"/>
                </a:tc>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Classical annealing (CPU)</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n = 64 → 128 → 192</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~75%</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≈40% → 60% → 50% (mean 50%)</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Moderate reliability; not consistently optimal.</a:t>
                      </a: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Quantum Annealing</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Ideal noiseless simulator (CPU)</a:t>
                      </a:r>
                    </a:p>
                  </a:txBody>
                  <a:tcPr marL="9525" marR="9525" marT="9525" marB="0" anchor="ctr"/>
                </a:tc>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n = 64 → 128 → 192</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~75%</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100% → 100% → 100% (mean 100%)</a:t>
                      </a:r>
                    </a:p>
                  </a:txBody>
                  <a:tcPr marL="9525" marR="9525" marT="9525" marB="0" anchor="ctr"/>
                </a:tc>
                <a:tc>
                  <a:txBody>
                    <a:bodyPr/>
                    <a:lstStyle/>
                    <a:p>
                      <a:pPr algn="ctr" fontAlgn="ctr"/>
                      <a:r>
                        <a:rPr lang="en-US" sz="1600" b="1" i="0" u="none" strike="noStrike">
                          <a:solidFill>
                            <a:srgbClr val="00B050"/>
                          </a:solidFill>
                          <a:effectLst/>
                          <a:latin typeface="Times New Roman" panose="02020603050405020304" pitchFamily="18" charset="0"/>
                          <a:cs typeface="Times New Roman" panose="02020603050405020304" pitchFamily="18" charset="0"/>
                        </a:rPr>
                        <a:t>Always reaches optimum in my benchmark.</a:t>
                      </a: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Quantum Annealing</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GPU (Tesla T4)</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n = 64 → 128 → 192</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~75%</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100% → 100% → 100% (mean 100%)</a:t>
                      </a:r>
                    </a:p>
                  </a:txBody>
                  <a:tcPr marL="9525" marR="9525" marT="9525" marB="0" anchor="ctr"/>
                </a:tc>
                <a:tc>
                  <a:txBody>
                    <a:bodyPr/>
                    <a:lstStyle/>
                    <a:p>
                      <a:pPr algn="ctr" fontAlgn="ctr"/>
                      <a:r>
                        <a:rPr lang="en-US" sz="1600" b="1" i="0" u="none" strike="noStrike" dirty="0">
                          <a:solidFill>
                            <a:srgbClr val="00B050"/>
                          </a:solidFill>
                          <a:effectLst/>
                          <a:latin typeface="Times New Roman" panose="02020603050405020304" pitchFamily="18" charset="0"/>
                          <a:cs typeface="Times New Roman" panose="02020603050405020304" pitchFamily="18" charset="0"/>
                        </a:rPr>
                        <a:t>Same success profile as ideal sim in experiment runs.</a:t>
                      </a:r>
                    </a:p>
                  </a:txBody>
                  <a:tcPr marL="9525" marR="9525" marT="9525" marB="0" anchor="ctr"/>
                </a:tc>
                <a:extLst>
                  <a:ext uri="{0D108BD9-81ED-4DB2-BD59-A6C34878D82A}">
                    <a16:rowId xmlns:a16="http://schemas.microsoft.com/office/drawing/2014/main" val="2563728446"/>
                  </a:ext>
                </a:extLst>
              </a:tr>
              <a:tr h="1032445">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Quantum Annealing</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Real IBM quantum hardware</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n = 64 → 128 → 192</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~75%</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≈0% → 0% → 0% (mean 0%)</a:t>
                      </a:r>
                    </a:p>
                  </a:txBody>
                  <a:tcPr marL="9525" marR="9525" marT="9525" marB="0" anchor="ctr"/>
                </a:tc>
                <a:tc>
                  <a:txBody>
                    <a:bodyPr/>
                    <a:lstStyle/>
                    <a:p>
                      <a:pPr algn="ctr" fontAlgn="ctr"/>
                      <a:r>
                        <a:rPr lang="en-US" sz="1600" b="1" i="0" u="none" strike="noStrike" dirty="0">
                          <a:solidFill>
                            <a:srgbClr val="FFFF00"/>
                          </a:solidFill>
                          <a:effectLst/>
                          <a:highlight>
                            <a:srgbClr val="FF0000"/>
                          </a:highlight>
                          <a:latin typeface="Times New Roman" panose="02020603050405020304" pitchFamily="18" charset="0"/>
                          <a:cs typeface="Times New Roman" panose="02020603050405020304" pitchFamily="18" charset="0"/>
                        </a:rPr>
                        <a:t>Reliability effectively fails under my set success criterion (noise/overhead dominated).</a:t>
                      </a: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1404834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latin typeface="Times New Roman" panose="02020603050405020304" pitchFamily="18" charset="0"/>
                <a:cs typeface="Times New Roman" panose="02020603050405020304" pitchFamily="18" charset="0"/>
              </a:rPr>
              <a:t>Overall Results (Quantum Annealing Algo)</a:t>
            </a:r>
          </a:p>
        </p:txBody>
      </p:sp>
      <p:sp>
        <p:nvSpPr>
          <p:cNvPr id="5" name="Slide Number Placeholder 4"/>
          <p:cNvSpPr>
            <a:spLocks noGrp="1"/>
          </p:cNvSpPr>
          <p:nvPr>
            <p:ph type="sldNum" sz="quarter" idx="12"/>
          </p:nvPr>
        </p:nvSpPr>
        <p:spPr/>
        <p:txBody>
          <a:bodyPr/>
          <a:lstStyle/>
          <a:p>
            <a:fld id="{455776AC-4C38-4B11-8F6F-86E3449187BD}" type="slidenum">
              <a:rPr lang="en-US" smtClean="0"/>
              <a:t>10</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2796154699"/>
              </p:ext>
            </p:extLst>
          </p:nvPr>
        </p:nvGraphicFramePr>
        <p:xfrm>
          <a:off x="76200" y="1219200"/>
          <a:ext cx="8915401" cy="5444854"/>
        </p:xfrm>
        <a:graphic>
          <a:graphicData uri="http://schemas.openxmlformats.org/drawingml/2006/table">
            <a:tbl>
              <a:tblPr firstRow="1" bandRow="1">
                <a:tableStyleId>{073A0DAA-6AF3-43AB-8588-CEC1D06C72B9}</a:tableStyleId>
              </a:tblPr>
              <a:tblGrid>
                <a:gridCol w="381000">
                  <a:extLst>
                    <a:ext uri="{9D8B030D-6E8A-4147-A177-3AD203B41FA5}">
                      <a16:colId xmlns:a16="http://schemas.microsoft.com/office/drawing/2014/main" val="3910533694"/>
                    </a:ext>
                  </a:extLst>
                </a:gridCol>
                <a:gridCol w="1600200">
                  <a:extLst>
                    <a:ext uri="{9D8B030D-6E8A-4147-A177-3AD203B41FA5}">
                      <a16:colId xmlns:a16="http://schemas.microsoft.com/office/drawing/2014/main" val="3535517474"/>
                    </a:ext>
                  </a:extLst>
                </a:gridCol>
                <a:gridCol w="1295400">
                  <a:extLst>
                    <a:ext uri="{9D8B030D-6E8A-4147-A177-3AD203B41FA5}">
                      <a16:colId xmlns:a16="http://schemas.microsoft.com/office/drawing/2014/main" val="3533058432"/>
                    </a:ext>
                  </a:extLst>
                </a:gridCol>
                <a:gridCol w="1905000">
                  <a:extLst>
                    <a:ext uri="{9D8B030D-6E8A-4147-A177-3AD203B41FA5}">
                      <a16:colId xmlns:a16="http://schemas.microsoft.com/office/drawing/2014/main" val="3867688207"/>
                    </a:ext>
                  </a:extLst>
                </a:gridCol>
                <a:gridCol w="1905000">
                  <a:extLst>
                    <a:ext uri="{9D8B030D-6E8A-4147-A177-3AD203B41FA5}">
                      <a16:colId xmlns:a16="http://schemas.microsoft.com/office/drawing/2014/main" val="2883158159"/>
                    </a:ext>
                  </a:extLst>
                </a:gridCol>
                <a:gridCol w="1828801">
                  <a:extLst>
                    <a:ext uri="{9D8B030D-6E8A-4147-A177-3AD203B41FA5}">
                      <a16:colId xmlns:a16="http://schemas.microsoft.com/office/drawing/2014/main" val="1647142395"/>
                    </a:ext>
                  </a:extLst>
                </a:gridCol>
              </a:tblGrid>
              <a:tr h="1032445">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Sr. No.</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cs typeface="Times New Roman" panose="02020603050405020304" pitchFamily="18" charset="0"/>
                        </a:rPr>
                        <a:t>Hardware</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rPr>
                        <a:t>Performance </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rPr>
                        <a:t>Reliability</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rPr>
                        <a:t>Scalability (n = 64 → 128 → 192)</a:t>
                      </a:r>
                    </a:p>
                  </a:txBody>
                  <a:tcPr marL="9525" marR="9525" marT="9525" marB="0" anchor="ctr"/>
                </a:tc>
                <a:tc>
                  <a:txBody>
                    <a:bodyPr/>
                    <a:lstStyle/>
                    <a:p>
                      <a:pPr algn="ctr" fontAlgn="ctr"/>
                      <a:r>
                        <a:rPr lang="en-US" sz="1600" b="1" i="0" u="none" strike="noStrike" dirty="0">
                          <a:solidFill>
                            <a:schemeClr val="bg1"/>
                          </a:solidFill>
                          <a:effectLst/>
                          <a:latin typeface="Times New Roman" panose="02020603050405020304" pitchFamily="18" charset="0"/>
                        </a:rPr>
                        <a:t>CO₂ / energy impact</a:t>
                      </a: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1</a:t>
                      </a:r>
                    </a:p>
                  </a:txBody>
                  <a:tcPr marL="9525" marR="9525" marT="9525" marB="0" anchor="ctr"/>
                </a:tc>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Classical annealing (CPU)</a:t>
                      </a:r>
                    </a:p>
                  </a:txBody>
                  <a:tcPr marL="9525" marR="9525" marT="9525" marB="0" anchor="ctr"/>
                </a:tc>
                <a:tc>
                  <a:txBody>
                    <a:bodyPr/>
                    <a:lstStyle/>
                    <a:p>
                      <a:pPr algn="ctr" fontAlgn="ctr"/>
                      <a:r>
                        <a:rPr lang="en-US" sz="1600" b="0" i="0" u="none" strike="noStrike" dirty="0">
                          <a:solidFill>
                            <a:srgbClr val="00B050"/>
                          </a:solidFill>
                          <a:effectLst/>
                          <a:latin typeface="Times New Roman" panose="02020603050405020304" pitchFamily="18" charset="0"/>
                        </a:rPr>
                        <a:t>Fastest overall: ≈4 → 11 → 23 s</a:t>
                      </a:r>
                    </a:p>
                  </a:txBody>
                  <a:tcPr marL="9525" marR="9525" marT="9525" marB="0" anchor="ctr"/>
                </a:tc>
                <a:tc>
                  <a:txBody>
                    <a:bodyPr/>
                    <a:lstStyle/>
                    <a:p>
                      <a:pPr algn="ctr" fontAlgn="ctr"/>
                      <a:r>
                        <a:rPr lang="en-US" sz="1600" b="0" i="0" u="none" strike="noStrike" dirty="0">
                          <a:solidFill>
                            <a:srgbClr val="FF0000"/>
                          </a:solidFill>
                          <a:effectLst/>
                          <a:latin typeface="Times New Roman" panose="02020603050405020304" pitchFamily="18" charset="0"/>
                        </a:rPr>
                        <a:t>Medium – success only 40–60%; several runs miss true optimum.</a:t>
                      </a:r>
                    </a:p>
                  </a:txBody>
                  <a:tcPr marL="9525" marR="9525" marT="9525" marB="0" anchor="ctr"/>
                </a:tc>
                <a:tc>
                  <a:txBody>
                    <a:bodyPr/>
                    <a:lstStyle/>
                    <a:p>
                      <a:pPr algn="ctr" fontAlgn="ctr"/>
                      <a:r>
                        <a:rPr lang="en-US" sz="1600" b="0" i="0" u="none" strike="noStrike" dirty="0">
                          <a:solidFill>
                            <a:srgbClr val="00B050"/>
                          </a:solidFill>
                          <a:effectLst/>
                          <a:latin typeface="Times New Roman" panose="02020603050405020304" pitchFamily="18" charset="0"/>
                        </a:rPr>
                        <a:t>Runtimes grow roughly linearly with n; memory stays small (&lt;0.6 MB).</a:t>
                      </a:r>
                    </a:p>
                  </a:txBody>
                  <a:tcPr marL="9525" marR="9525" marT="9525" marB="0" anchor="ctr"/>
                </a:tc>
                <a:tc>
                  <a:txBody>
                    <a:bodyPr/>
                    <a:lstStyle/>
                    <a:p>
                      <a:pPr algn="ctr" fontAlgn="ctr"/>
                      <a:r>
                        <a:rPr lang="en-US" sz="1600" b="0" i="0" u="none" strike="noStrike" dirty="0">
                          <a:solidFill>
                            <a:srgbClr val="00B050"/>
                          </a:solidFill>
                          <a:effectLst/>
                          <a:latin typeface="Times New Roman" panose="02020603050405020304" pitchFamily="18" charset="0"/>
                        </a:rPr>
                        <a:t>Lowest (~3.6×10⁻³ kgCO₂e) – best energy efficiency of all four.</a:t>
                      </a: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2</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Ideal noiseless simulator (CPU)</a:t>
                      </a:r>
                    </a:p>
                  </a:txBody>
                  <a:tcPr marL="9525" marR="9525" marT="9525" marB="0" anchor="ctr"/>
                </a:tc>
                <a:tc>
                  <a:txBody>
                    <a:bodyPr/>
                    <a:lstStyle/>
                    <a:p>
                      <a:pPr algn="ctr" fontAlgn="ctr"/>
                      <a:r>
                        <a:rPr lang="en-US" sz="1600" b="0" i="0" u="none" strike="noStrike" dirty="0">
                          <a:solidFill>
                            <a:srgbClr val="000000"/>
                          </a:solidFill>
                          <a:effectLst/>
                          <a:latin typeface="Times New Roman" panose="02020603050405020304" pitchFamily="18" charset="0"/>
                        </a:rPr>
                        <a:t>Moderate speed: ≈4.4 → 16 → 34.9 s</a:t>
                      </a:r>
                    </a:p>
                  </a:txBody>
                  <a:tcPr marL="9525" marR="9525" marT="9525" marB="0" anchor="ctr"/>
                </a:tc>
                <a:tc>
                  <a:txBody>
                    <a:bodyPr/>
                    <a:lstStyle/>
                    <a:p>
                      <a:pPr algn="ctr" fontAlgn="ctr"/>
                      <a:r>
                        <a:rPr lang="en-US" sz="1600" b="0" i="0" u="none" strike="noStrike" dirty="0">
                          <a:solidFill>
                            <a:srgbClr val="00B050"/>
                          </a:solidFill>
                          <a:effectLst/>
                          <a:latin typeface="Times New Roman" panose="02020603050405020304" pitchFamily="18" charset="0"/>
                        </a:rPr>
                        <a:t>Perfect – 100% success for all sizes, zero gap.</a:t>
                      </a:r>
                    </a:p>
                  </a:txBody>
                  <a:tcPr marL="9525" marR="9525" marT="9525" marB="0" anchor="ctr"/>
                </a:tc>
                <a:tc>
                  <a:txBody>
                    <a:bodyPr/>
                    <a:lstStyle/>
                    <a:p>
                      <a:pPr algn="ctr" fontAlgn="ctr"/>
                      <a:r>
                        <a:rPr lang="en-US" sz="1600" b="0" i="0" u="none" strike="noStrike" dirty="0">
                          <a:solidFill>
                            <a:srgbClr val="000000"/>
                          </a:solidFill>
                          <a:effectLst/>
                          <a:latin typeface="Times New Roman" panose="02020603050405020304" pitchFamily="18" charset="0"/>
                        </a:rPr>
                        <a:t>Time grows faster than classical but still in tens of seconds; memory tiny.</a:t>
                      </a:r>
                    </a:p>
                  </a:txBody>
                  <a:tcPr marL="9525" marR="9525" marT="9525" marB="0" anchor="ctr"/>
                </a:tc>
                <a:tc>
                  <a:txBody>
                    <a:bodyPr/>
                    <a:lstStyle/>
                    <a:p>
                      <a:pPr algn="ctr" fontAlgn="ctr"/>
                      <a:r>
                        <a:rPr lang="en-US" sz="1600" b="0" i="0" u="none" strike="noStrike" dirty="0">
                          <a:solidFill>
                            <a:srgbClr val="000000"/>
                          </a:solidFill>
                          <a:effectLst/>
                          <a:latin typeface="Times New Roman" panose="02020603050405020304" pitchFamily="18" charset="0"/>
                        </a:rPr>
                        <a:t>Low–moderate ~(5.2×10⁻³ kgCO₂e), ≈1.4× classical CPU.</a:t>
                      </a: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3</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GPU (Tesla T4)</a:t>
                      </a:r>
                    </a:p>
                  </a:txBody>
                  <a:tcPr marL="9525" marR="9525" marT="9525" marB="0" anchor="ctr"/>
                </a:tc>
                <a:tc>
                  <a:txBody>
                    <a:bodyPr/>
                    <a:lstStyle/>
                    <a:p>
                      <a:pPr algn="ctr" fontAlgn="ctr"/>
                      <a:r>
                        <a:rPr lang="en-US" sz="1600" b="0" i="0" u="none" strike="noStrike" dirty="0">
                          <a:solidFill>
                            <a:srgbClr val="000000"/>
                          </a:solidFill>
                          <a:effectLst/>
                          <a:latin typeface="Times New Roman" panose="02020603050405020304" pitchFamily="18" charset="0"/>
                        </a:rPr>
                        <a:t>Slowest simulator: ≈5.2 → 20.1 → 42.6 s</a:t>
                      </a:r>
                    </a:p>
                  </a:txBody>
                  <a:tcPr marL="9525" marR="9525" marT="9525" marB="0" anchor="ctr"/>
                </a:tc>
                <a:tc>
                  <a:txBody>
                    <a:bodyPr/>
                    <a:lstStyle/>
                    <a:p>
                      <a:pPr algn="ctr" fontAlgn="ctr"/>
                      <a:r>
                        <a:rPr lang="en-US" sz="1600" b="0" i="0" u="none" strike="noStrike" dirty="0">
                          <a:solidFill>
                            <a:srgbClr val="00B050"/>
                          </a:solidFill>
                          <a:effectLst/>
                          <a:latin typeface="Times New Roman" panose="02020603050405020304" pitchFamily="18" charset="0"/>
                        </a:rPr>
                        <a:t>Perfect – 100%.</a:t>
                      </a:r>
                    </a:p>
                  </a:txBody>
                  <a:tcPr marL="9525" marR="9525" marT="9525" marB="0" anchor="ctr"/>
                </a:tc>
                <a:tc>
                  <a:txBody>
                    <a:bodyPr/>
                    <a:lstStyle/>
                    <a:p>
                      <a:pPr algn="ctr" fontAlgn="ctr"/>
                      <a:r>
                        <a:rPr lang="en-US" sz="1600" b="0" i="0" u="none" strike="noStrike" dirty="0">
                          <a:solidFill>
                            <a:srgbClr val="000000"/>
                          </a:solidFill>
                          <a:effectLst/>
                          <a:latin typeface="Times New Roman" panose="02020603050405020304" pitchFamily="18" charset="0"/>
                        </a:rPr>
                        <a:t>Runtimes increase similarly or slightly worse than ideal sim</a:t>
                      </a:r>
                    </a:p>
                  </a:txBody>
                  <a:tcPr marL="9525" marR="9525" marT="9525" marB="0" anchor="ctr"/>
                </a:tc>
                <a:tc>
                  <a:txBody>
                    <a:bodyPr/>
                    <a:lstStyle/>
                    <a:p>
                      <a:pPr algn="ctr" fontAlgn="ctr"/>
                      <a:r>
                        <a:rPr lang="en-US" sz="1600" b="0" i="0" u="none" strike="noStrike">
                          <a:solidFill>
                            <a:srgbClr val="000000"/>
                          </a:solidFill>
                          <a:effectLst/>
                          <a:latin typeface="Times New Roman" panose="02020603050405020304" pitchFamily="18" charset="0"/>
                        </a:rPr>
                        <a:t>Moderate (~6.5×10⁻³ kgCO₂e), ≈1.8× classical CPU.</a:t>
                      </a:r>
                    </a:p>
                  </a:txBody>
                  <a:tcPr marL="9525" marR="9525" marT="9525" marB="0" anchor="ctr"/>
                </a:tc>
                <a:extLst>
                  <a:ext uri="{0D108BD9-81ED-4DB2-BD59-A6C34878D82A}">
                    <a16:rowId xmlns:a16="http://schemas.microsoft.com/office/drawing/2014/main" val="2563728446"/>
                  </a:ext>
                </a:extLst>
              </a:tr>
              <a:tr h="1032445">
                <a:tc>
                  <a:txBody>
                    <a:bodyPr/>
                    <a:lstStyle/>
                    <a:p>
                      <a:pPr algn="ctr" fontAlgn="ctr"/>
                      <a:r>
                        <a:rPr lang="en-US" sz="1600" b="1" i="0" u="none" strike="noStrike" dirty="0">
                          <a:solidFill>
                            <a:srgbClr val="000000"/>
                          </a:solidFill>
                          <a:effectLst/>
                          <a:latin typeface="Times New Roman" panose="02020603050405020304" pitchFamily="18" charset="0"/>
                          <a:cs typeface="Times New Roman" panose="02020603050405020304" pitchFamily="18" charset="0"/>
                        </a:rPr>
                        <a:t>4</a:t>
                      </a:r>
                    </a:p>
                  </a:txBody>
                  <a:tcPr marL="9525" marR="9525" marT="9525" marB="0" anchor="ctr"/>
                </a:tc>
                <a:tc>
                  <a:txBody>
                    <a:bodyPr/>
                    <a:lstStyle/>
                    <a:p>
                      <a:pPr algn="ctr" fontAlgn="ctr"/>
                      <a:r>
                        <a:rPr lang="en-US" sz="1600" b="1" i="0" u="none" strike="noStrike">
                          <a:solidFill>
                            <a:srgbClr val="000000"/>
                          </a:solidFill>
                          <a:effectLst/>
                          <a:latin typeface="Times New Roman" panose="02020603050405020304" pitchFamily="18" charset="0"/>
                          <a:cs typeface="Times New Roman" panose="02020603050405020304" pitchFamily="18" charset="0"/>
                        </a:rPr>
                        <a:t>Real IBM quantum hardware</a:t>
                      </a:r>
                    </a:p>
                  </a:txBody>
                  <a:tcPr marL="9525" marR="9525" marT="9525" marB="0" anchor="ctr"/>
                </a:tc>
                <a:tc>
                  <a:txBody>
                    <a:bodyPr/>
                    <a:lstStyle/>
                    <a:p>
                      <a:pPr algn="ctr" fontAlgn="ctr"/>
                      <a:r>
                        <a:rPr lang="en-US" sz="1600" b="0" i="0" u="none" strike="noStrike" dirty="0">
                          <a:solidFill>
                            <a:srgbClr val="FF0000"/>
                          </a:solidFill>
                          <a:effectLst/>
                          <a:latin typeface="Times New Roman" panose="02020603050405020304" pitchFamily="18" charset="0"/>
                        </a:rPr>
                        <a:t>Slowest by far: ≈16.3 → 42.2 → 81.2 s</a:t>
                      </a:r>
                    </a:p>
                  </a:txBody>
                  <a:tcPr marL="9525" marR="9525" marT="9525" marB="0" anchor="ctr"/>
                </a:tc>
                <a:tc>
                  <a:txBody>
                    <a:bodyPr/>
                    <a:lstStyle/>
                    <a:p>
                      <a:pPr algn="ctr" fontAlgn="ctr"/>
                      <a:r>
                        <a:rPr lang="en-US" sz="1600" b="0" i="0" u="none" strike="noStrike" dirty="0">
                          <a:solidFill>
                            <a:srgbClr val="FF0000"/>
                          </a:solidFill>
                          <a:effectLst/>
                          <a:latin typeface="Times New Roman" panose="02020603050405020304" pitchFamily="18" charset="0"/>
                        </a:rPr>
                        <a:t>Very low – 0% success; no run reaches the true optimum.</a:t>
                      </a:r>
                    </a:p>
                  </a:txBody>
                  <a:tcPr marL="9525" marR="9525" marT="9525" marB="0" anchor="ctr"/>
                </a:tc>
                <a:tc>
                  <a:txBody>
                    <a:bodyPr/>
                    <a:lstStyle/>
                    <a:p>
                      <a:pPr algn="ctr" fontAlgn="ctr"/>
                      <a:r>
                        <a:rPr lang="en-US" sz="1600" b="0" i="0" u="none" strike="noStrike" dirty="0">
                          <a:solidFill>
                            <a:srgbClr val="FF0000"/>
                          </a:solidFill>
                          <a:effectLst/>
                          <a:latin typeface="Times New Roman" panose="02020603050405020304" pitchFamily="18" charset="0"/>
                        </a:rPr>
                        <a:t>Wall-clock time grows with n and dominated by cloud/control overhead</a:t>
                      </a:r>
                    </a:p>
                  </a:txBody>
                  <a:tcPr marL="9525" marR="9525" marT="9525" marB="0" anchor="ctr"/>
                </a:tc>
                <a:tc>
                  <a:txBody>
                    <a:bodyPr/>
                    <a:lstStyle/>
                    <a:p>
                      <a:pPr algn="ctr" fontAlgn="ctr"/>
                      <a:r>
                        <a:rPr lang="en-US" sz="1600" b="0" i="0" u="none" strike="noStrike" dirty="0">
                          <a:solidFill>
                            <a:srgbClr val="FF0000"/>
                          </a:solidFill>
                          <a:effectLst/>
                          <a:latin typeface="Times New Roman" panose="02020603050405020304" pitchFamily="18" charset="0"/>
                        </a:rPr>
                        <a:t>Highest (~1.32×10⁻² kgCO₂e), about 3–4× classical CPU.</a:t>
                      </a: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592385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Overall Results (All Algorithms)</a:t>
            </a:r>
          </a:p>
        </p:txBody>
      </p:sp>
      <p:sp>
        <p:nvSpPr>
          <p:cNvPr id="5" name="Slide Number Placeholder 4"/>
          <p:cNvSpPr>
            <a:spLocks noGrp="1"/>
          </p:cNvSpPr>
          <p:nvPr>
            <p:ph type="sldNum" sz="quarter" idx="12"/>
          </p:nvPr>
        </p:nvSpPr>
        <p:spPr/>
        <p:txBody>
          <a:bodyPr/>
          <a:lstStyle/>
          <a:p>
            <a:fld id="{455776AC-4C38-4B11-8F6F-86E3449187BD}" type="slidenum">
              <a:rPr lang="en-US" smtClean="0"/>
              <a:t>11</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1641029683"/>
              </p:ext>
            </p:extLst>
          </p:nvPr>
        </p:nvGraphicFramePr>
        <p:xfrm>
          <a:off x="76200" y="1219200"/>
          <a:ext cx="8915401" cy="5137150"/>
        </p:xfrm>
        <a:graphic>
          <a:graphicData uri="http://schemas.openxmlformats.org/drawingml/2006/table">
            <a:tbl>
              <a:tblPr firstRow="1" bandRow="1">
                <a:tableStyleId>{073A0DAA-6AF3-43AB-8588-CEC1D06C72B9}</a:tableStyleId>
              </a:tblPr>
              <a:tblGrid>
                <a:gridCol w="381000">
                  <a:extLst>
                    <a:ext uri="{9D8B030D-6E8A-4147-A177-3AD203B41FA5}">
                      <a16:colId xmlns:a16="http://schemas.microsoft.com/office/drawing/2014/main" val="3910533694"/>
                    </a:ext>
                  </a:extLst>
                </a:gridCol>
                <a:gridCol w="1371600">
                  <a:extLst>
                    <a:ext uri="{9D8B030D-6E8A-4147-A177-3AD203B41FA5}">
                      <a16:colId xmlns:a16="http://schemas.microsoft.com/office/drawing/2014/main" val="3535517474"/>
                    </a:ext>
                  </a:extLst>
                </a:gridCol>
                <a:gridCol w="1524000">
                  <a:extLst>
                    <a:ext uri="{9D8B030D-6E8A-4147-A177-3AD203B41FA5}">
                      <a16:colId xmlns:a16="http://schemas.microsoft.com/office/drawing/2014/main" val="3533058432"/>
                    </a:ext>
                  </a:extLst>
                </a:gridCol>
                <a:gridCol w="1905000">
                  <a:extLst>
                    <a:ext uri="{9D8B030D-6E8A-4147-A177-3AD203B41FA5}">
                      <a16:colId xmlns:a16="http://schemas.microsoft.com/office/drawing/2014/main" val="3867688207"/>
                    </a:ext>
                  </a:extLst>
                </a:gridCol>
                <a:gridCol w="1905000">
                  <a:extLst>
                    <a:ext uri="{9D8B030D-6E8A-4147-A177-3AD203B41FA5}">
                      <a16:colId xmlns:a16="http://schemas.microsoft.com/office/drawing/2014/main" val="2883158159"/>
                    </a:ext>
                  </a:extLst>
                </a:gridCol>
                <a:gridCol w="1828801">
                  <a:extLst>
                    <a:ext uri="{9D8B030D-6E8A-4147-A177-3AD203B41FA5}">
                      <a16:colId xmlns:a16="http://schemas.microsoft.com/office/drawing/2014/main" val="1647142395"/>
                    </a:ext>
                  </a:extLst>
                </a:gridCol>
              </a:tblGrid>
              <a:tr h="988752">
                <a:tc>
                  <a:txBody>
                    <a:bodyPr/>
                    <a:lstStyle/>
                    <a:p>
                      <a:pPr algn="ctr" fontAlgn="ctr"/>
                      <a:r>
                        <a:rPr lang="en-US" sz="1800" b="1" i="0" u="none" strike="noStrike">
                          <a:solidFill>
                            <a:schemeClr val="bg1"/>
                          </a:solidFill>
                          <a:effectLst/>
                          <a:latin typeface="Times New Roman" panose="02020603050405020304" pitchFamily="18" charset="0"/>
                        </a:rPr>
                        <a:t>Sr. No.</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Algorithms</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Performance</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Reliability</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Scalability (problem size ↑)</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CO₂ / energy impact</a:t>
                      </a:r>
                    </a:p>
                  </a:txBody>
                  <a:tcPr marL="9525" marR="9525" marT="9525" marB="0" anchor="ctr"/>
                </a:tc>
                <a:extLst>
                  <a:ext uri="{0D108BD9-81ED-4DB2-BD59-A6C34878D82A}">
                    <a16:rowId xmlns:a16="http://schemas.microsoft.com/office/drawing/2014/main" val="2600768916"/>
                  </a:ext>
                </a:extLst>
              </a:tr>
              <a:tr h="904566">
                <a:tc>
                  <a:txBody>
                    <a:bodyPr/>
                    <a:lstStyle/>
                    <a:p>
                      <a:pPr algn="ctr" fontAlgn="ctr"/>
                      <a:r>
                        <a:rPr lang="en-US" sz="1800" b="1" i="0" u="none" strike="noStrike">
                          <a:solidFill>
                            <a:srgbClr val="000000"/>
                          </a:solidFill>
                          <a:effectLst/>
                          <a:latin typeface="Times New Roman" panose="02020603050405020304" pitchFamily="18" charset="0"/>
                        </a:rPr>
                        <a:t>1</a:t>
                      </a:r>
                    </a:p>
                  </a:txBody>
                  <a:tcPr marL="9525" marR="9525" marT="9525" marB="0" anchor="ctr"/>
                </a:tc>
                <a:tc>
                  <a:txBody>
                    <a:bodyPr/>
                    <a:lstStyle/>
                    <a:p>
                      <a:pPr algn="ctr" fontAlgn="ctr"/>
                      <a:r>
                        <a:rPr lang="en-US" sz="1800" b="1" i="0" u="none" strike="noStrike" dirty="0">
                          <a:solidFill>
                            <a:srgbClr val="000000"/>
                          </a:solidFill>
                          <a:effectLst/>
                          <a:latin typeface="Times New Roman" panose="02020603050405020304" pitchFamily="18" charset="0"/>
                        </a:rPr>
                        <a:t>Grover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All 3 other than Real IBM Hardware</a:t>
                      </a:r>
                    </a:p>
                  </a:txBody>
                  <a:tcPr marL="9525" marR="9525" marT="9525" marB="0" anchor="ctr"/>
                </a:tc>
                <a:tc>
                  <a:txBody>
                    <a:bodyPr/>
                    <a:lstStyle/>
                    <a:p>
                      <a:pPr algn="ctr" fontAlgn="ctr"/>
                      <a:r>
                        <a:rPr lang="en-US" sz="1800" b="0" i="0" u="none" strike="noStrike" dirty="0">
                          <a:solidFill>
                            <a:schemeClr val="tx1"/>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1618921442"/>
                  </a:ext>
                </a:extLst>
              </a:tr>
              <a:tr h="1350514">
                <a:tc>
                  <a:txBody>
                    <a:bodyPr/>
                    <a:lstStyle/>
                    <a:p>
                      <a:pPr algn="ctr" fontAlgn="ctr"/>
                      <a:r>
                        <a:rPr lang="en-US" sz="1800" b="1" i="0" u="none" strike="noStrike">
                          <a:solidFill>
                            <a:srgbClr val="000000"/>
                          </a:solidFill>
                          <a:effectLst/>
                          <a:latin typeface="Times New Roman" panose="02020603050405020304" pitchFamily="18" charset="0"/>
                        </a:rPr>
                        <a:t>2</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rPr>
                        <a:t>Shor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Ideal noiseless simulator &amp; GPU (Tesla T4)</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extLst>
                  <a:ext uri="{0D108BD9-81ED-4DB2-BD59-A6C34878D82A}">
                    <a16:rowId xmlns:a16="http://schemas.microsoft.com/office/drawing/2014/main" val="1999304210"/>
                  </a:ext>
                </a:extLst>
              </a:tr>
              <a:tr h="904566">
                <a:tc>
                  <a:txBody>
                    <a:bodyPr/>
                    <a:lstStyle/>
                    <a:p>
                      <a:pPr algn="ctr" fontAlgn="ctr"/>
                      <a:r>
                        <a:rPr lang="en-US" sz="1800" b="1" i="0" u="none" strike="noStrike">
                          <a:solidFill>
                            <a:srgbClr val="000000"/>
                          </a:solidFill>
                          <a:effectLst/>
                          <a:latin typeface="Times New Roman" panose="02020603050405020304" pitchFamily="18" charset="0"/>
                        </a:rPr>
                        <a:t>3</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rPr>
                        <a:t>CAOA</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2563728446"/>
                  </a:ext>
                </a:extLst>
              </a:tr>
              <a:tr h="988752">
                <a:tc>
                  <a:txBody>
                    <a:bodyPr/>
                    <a:lstStyle/>
                    <a:p>
                      <a:pPr algn="ctr" fontAlgn="ctr"/>
                      <a:r>
                        <a:rPr lang="en-US" sz="1800" b="1" i="0" u="none" strike="noStrike">
                          <a:solidFill>
                            <a:srgbClr val="000000"/>
                          </a:solidFill>
                          <a:effectLst/>
                          <a:latin typeface="Times New Roman" panose="02020603050405020304" pitchFamily="18" charset="0"/>
                        </a:rPr>
                        <a:t>4</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rPr>
                        <a:t>VQE</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3515202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dirty="0">
                <a:latin typeface="Times New Roman" panose="02020603050405020304" pitchFamily="18" charset="0"/>
                <a:cs typeface="Times New Roman" panose="02020603050405020304" pitchFamily="18" charset="0"/>
              </a:rPr>
              <a:t>Overall Results (All Algorithms) Cont…</a:t>
            </a:r>
          </a:p>
        </p:txBody>
      </p:sp>
      <p:sp>
        <p:nvSpPr>
          <p:cNvPr id="5" name="Slide Number Placeholder 4"/>
          <p:cNvSpPr>
            <a:spLocks noGrp="1"/>
          </p:cNvSpPr>
          <p:nvPr>
            <p:ph type="sldNum" sz="quarter" idx="12"/>
          </p:nvPr>
        </p:nvSpPr>
        <p:spPr/>
        <p:txBody>
          <a:bodyPr/>
          <a:lstStyle/>
          <a:p>
            <a:fld id="{455776AC-4C38-4B11-8F6F-86E3449187BD}" type="slidenum">
              <a:rPr lang="en-US" smtClean="0"/>
              <a:t>12</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312349793"/>
              </p:ext>
            </p:extLst>
          </p:nvPr>
        </p:nvGraphicFramePr>
        <p:xfrm>
          <a:off x="76200" y="1219200"/>
          <a:ext cx="8915401" cy="5364162"/>
        </p:xfrm>
        <a:graphic>
          <a:graphicData uri="http://schemas.openxmlformats.org/drawingml/2006/table">
            <a:tbl>
              <a:tblPr firstRow="1" bandRow="1">
                <a:tableStyleId>{073A0DAA-6AF3-43AB-8588-CEC1D06C72B9}</a:tableStyleId>
              </a:tblPr>
              <a:tblGrid>
                <a:gridCol w="381000">
                  <a:extLst>
                    <a:ext uri="{9D8B030D-6E8A-4147-A177-3AD203B41FA5}">
                      <a16:colId xmlns:a16="http://schemas.microsoft.com/office/drawing/2014/main" val="3910533694"/>
                    </a:ext>
                  </a:extLst>
                </a:gridCol>
                <a:gridCol w="1371600">
                  <a:extLst>
                    <a:ext uri="{9D8B030D-6E8A-4147-A177-3AD203B41FA5}">
                      <a16:colId xmlns:a16="http://schemas.microsoft.com/office/drawing/2014/main" val="3535517474"/>
                    </a:ext>
                  </a:extLst>
                </a:gridCol>
                <a:gridCol w="1524000">
                  <a:extLst>
                    <a:ext uri="{9D8B030D-6E8A-4147-A177-3AD203B41FA5}">
                      <a16:colId xmlns:a16="http://schemas.microsoft.com/office/drawing/2014/main" val="3533058432"/>
                    </a:ext>
                  </a:extLst>
                </a:gridCol>
                <a:gridCol w="1905000">
                  <a:extLst>
                    <a:ext uri="{9D8B030D-6E8A-4147-A177-3AD203B41FA5}">
                      <a16:colId xmlns:a16="http://schemas.microsoft.com/office/drawing/2014/main" val="3867688207"/>
                    </a:ext>
                  </a:extLst>
                </a:gridCol>
                <a:gridCol w="1905000">
                  <a:extLst>
                    <a:ext uri="{9D8B030D-6E8A-4147-A177-3AD203B41FA5}">
                      <a16:colId xmlns:a16="http://schemas.microsoft.com/office/drawing/2014/main" val="2883158159"/>
                    </a:ext>
                  </a:extLst>
                </a:gridCol>
                <a:gridCol w="1828801">
                  <a:extLst>
                    <a:ext uri="{9D8B030D-6E8A-4147-A177-3AD203B41FA5}">
                      <a16:colId xmlns:a16="http://schemas.microsoft.com/office/drawing/2014/main" val="1647142395"/>
                    </a:ext>
                  </a:extLst>
                </a:gridCol>
              </a:tblGrid>
              <a:tr h="1032445">
                <a:tc>
                  <a:txBody>
                    <a:bodyPr/>
                    <a:lstStyle/>
                    <a:p>
                      <a:pPr algn="ctr" fontAlgn="ctr"/>
                      <a:r>
                        <a:rPr lang="en-US" sz="1800" b="1" i="0" u="none" strike="noStrike">
                          <a:solidFill>
                            <a:schemeClr val="bg1"/>
                          </a:solidFill>
                          <a:effectLst/>
                          <a:latin typeface="Times New Roman" panose="02020603050405020304" pitchFamily="18" charset="0"/>
                        </a:rPr>
                        <a:t>Sr. No.</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Algorithms</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Performance</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Reliability</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Scalability (problem size ↑)</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CO₂ / energy impact</a:t>
                      </a: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800" b="1" i="0" u="none" strike="noStrike">
                          <a:solidFill>
                            <a:srgbClr val="000000"/>
                          </a:solidFill>
                          <a:effectLst/>
                          <a:latin typeface="Times New Roman" panose="02020603050405020304" pitchFamily="18" charset="0"/>
                        </a:rPr>
                        <a:t>5</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rPr>
                        <a:t>HHL</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800" b="1" i="0" u="none" strike="noStrike">
                          <a:solidFill>
                            <a:srgbClr val="000000"/>
                          </a:solidFill>
                          <a:effectLst/>
                          <a:latin typeface="Times New Roman" panose="02020603050405020304" pitchFamily="18" charset="0"/>
                        </a:rPr>
                        <a:t>6</a:t>
                      </a:r>
                    </a:p>
                  </a:txBody>
                  <a:tcPr marL="9525" marR="9525" marT="9525" marB="0" anchor="ctr"/>
                </a:tc>
                <a:tc>
                  <a:txBody>
                    <a:bodyPr/>
                    <a:lstStyle/>
                    <a:p>
                      <a:pPr algn="ctr" fontAlgn="ctr"/>
                      <a:r>
                        <a:rPr lang="en-US" sz="1800" b="1" i="0" u="none" strike="noStrike" dirty="0">
                          <a:solidFill>
                            <a:srgbClr val="000000"/>
                          </a:solidFill>
                          <a:effectLst/>
                          <a:latin typeface="Times New Roman" panose="02020603050405020304" pitchFamily="18" charset="0"/>
                        </a:rPr>
                        <a:t>DJ</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FF0000"/>
                          </a:solidFill>
                          <a:effectLst/>
                          <a:latin typeface="Times New Roman" panose="02020603050405020304" pitchFamily="18" charset="0"/>
                        </a:rPr>
                        <a:t>Ideal noiseless simulator/ Real IBM Hardware</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800" b="1" i="0" u="none" strike="noStrike">
                          <a:solidFill>
                            <a:srgbClr val="000000"/>
                          </a:solidFill>
                          <a:effectLst/>
                          <a:latin typeface="Times New Roman" panose="02020603050405020304" pitchFamily="18" charset="0"/>
                        </a:rPr>
                        <a:t>7</a:t>
                      </a:r>
                    </a:p>
                  </a:txBody>
                  <a:tcPr marL="9525" marR="9525" marT="9525" marB="0" anchor="ctr"/>
                </a:tc>
                <a:tc>
                  <a:txBody>
                    <a:bodyPr/>
                    <a:lstStyle/>
                    <a:p>
                      <a:pPr algn="ctr" fontAlgn="ctr"/>
                      <a:r>
                        <a:rPr lang="en-US" sz="1800" b="1" i="0" u="none" strike="noStrike" dirty="0">
                          <a:solidFill>
                            <a:srgbClr val="000000"/>
                          </a:solidFill>
                          <a:effectLst/>
                          <a:latin typeface="Times New Roman" panose="02020603050405020304" pitchFamily="18" charset="0"/>
                        </a:rPr>
                        <a:t>Simon’s</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All 3 perfect except 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 &amp; 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2563728446"/>
                  </a:ext>
                </a:extLst>
              </a:tr>
              <a:tr h="1032445">
                <a:tc>
                  <a:txBody>
                    <a:bodyPr/>
                    <a:lstStyle/>
                    <a:p>
                      <a:pPr algn="ctr" fontAlgn="ctr"/>
                      <a:r>
                        <a:rPr lang="en-US" sz="1800" b="1" i="0" u="none" strike="noStrike">
                          <a:solidFill>
                            <a:srgbClr val="000000"/>
                          </a:solidFill>
                          <a:effectLst/>
                          <a:latin typeface="Times New Roman" panose="02020603050405020304" pitchFamily="18" charset="0"/>
                        </a:rPr>
                        <a:t>8</a:t>
                      </a:r>
                    </a:p>
                  </a:txBody>
                  <a:tcPr marL="9525" marR="9525" marT="9525" marB="0" anchor="ctr"/>
                </a:tc>
                <a:tc>
                  <a:txBody>
                    <a:bodyPr/>
                    <a:lstStyle/>
                    <a:p>
                      <a:pPr algn="ctr" fontAlgn="ctr"/>
                      <a:r>
                        <a:rPr lang="en-US" sz="1800" b="1" i="0" u="none" strike="noStrike" dirty="0">
                          <a:solidFill>
                            <a:srgbClr val="000000"/>
                          </a:solidFill>
                          <a:effectLst/>
                          <a:latin typeface="Times New Roman" panose="02020603050405020304" pitchFamily="18" charset="0"/>
                        </a:rPr>
                        <a:t>Quantum walk</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 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All 3 perfect except 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GPU (Tesla T4)</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GPU (Tesla T4)</a:t>
                      </a: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1935092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Overall Results (All Algorithms)</a:t>
            </a:r>
          </a:p>
        </p:txBody>
      </p:sp>
      <p:sp>
        <p:nvSpPr>
          <p:cNvPr id="5" name="Slide Number Placeholder 4"/>
          <p:cNvSpPr>
            <a:spLocks noGrp="1"/>
          </p:cNvSpPr>
          <p:nvPr>
            <p:ph type="sldNum" sz="quarter" idx="12"/>
          </p:nvPr>
        </p:nvSpPr>
        <p:spPr/>
        <p:txBody>
          <a:bodyPr/>
          <a:lstStyle/>
          <a:p>
            <a:fld id="{455776AC-4C38-4B11-8F6F-86E3449187BD}" type="slidenum">
              <a:rPr lang="en-US" smtClean="0"/>
              <a:t>13</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1799766256"/>
              </p:ext>
            </p:extLst>
          </p:nvPr>
        </p:nvGraphicFramePr>
        <p:xfrm>
          <a:off x="76200" y="1219200"/>
          <a:ext cx="8915401" cy="5364162"/>
        </p:xfrm>
        <a:graphic>
          <a:graphicData uri="http://schemas.openxmlformats.org/drawingml/2006/table">
            <a:tbl>
              <a:tblPr firstRow="1" bandRow="1">
                <a:tableStyleId>{073A0DAA-6AF3-43AB-8588-CEC1D06C72B9}</a:tableStyleId>
              </a:tblPr>
              <a:tblGrid>
                <a:gridCol w="381000">
                  <a:extLst>
                    <a:ext uri="{9D8B030D-6E8A-4147-A177-3AD203B41FA5}">
                      <a16:colId xmlns:a16="http://schemas.microsoft.com/office/drawing/2014/main" val="3910533694"/>
                    </a:ext>
                  </a:extLst>
                </a:gridCol>
                <a:gridCol w="1371600">
                  <a:extLst>
                    <a:ext uri="{9D8B030D-6E8A-4147-A177-3AD203B41FA5}">
                      <a16:colId xmlns:a16="http://schemas.microsoft.com/office/drawing/2014/main" val="3535517474"/>
                    </a:ext>
                  </a:extLst>
                </a:gridCol>
                <a:gridCol w="1524000">
                  <a:extLst>
                    <a:ext uri="{9D8B030D-6E8A-4147-A177-3AD203B41FA5}">
                      <a16:colId xmlns:a16="http://schemas.microsoft.com/office/drawing/2014/main" val="3533058432"/>
                    </a:ext>
                  </a:extLst>
                </a:gridCol>
                <a:gridCol w="1905000">
                  <a:extLst>
                    <a:ext uri="{9D8B030D-6E8A-4147-A177-3AD203B41FA5}">
                      <a16:colId xmlns:a16="http://schemas.microsoft.com/office/drawing/2014/main" val="3867688207"/>
                    </a:ext>
                  </a:extLst>
                </a:gridCol>
                <a:gridCol w="1905000">
                  <a:extLst>
                    <a:ext uri="{9D8B030D-6E8A-4147-A177-3AD203B41FA5}">
                      <a16:colId xmlns:a16="http://schemas.microsoft.com/office/drawing/2014/main" val="2883158159"/>
                    </a:ext>
                  </a:extLst>
                </a:gridCol>
                <a:gridCol w="1828801">
                  <a:extLst>
                    <a:ext uri="{9D8B030D-6E8A-4147-A177-3AD203B41FA5}">
                      <a16:colId xmlns:a16="http://schemas.microsoft.com/office/drawing/2014/main" val="1647142395"/>
                    </a:ext>
                  </a:extLst>
                </a:gridCol>
              </a:tblGrid>
              <a:tr h="1032445">
                <a:tc>
                  <a:txBody>
                    <a:bodyPr/>
                    <a:lstStyle/>
                    <a:p>
                      <a:pPr algn="ctr" fontAlgn="ctr"/>
                      <a:r>
                        <a:rPr lang="en-US" sz="1800" b="1" i="0" u="none" strike="noStrike">
                          <a:solidFill>
                            <a:schemeClr val="bg1"/>
                          </a:solidFill>
                          <a:effectLst/>
                          <a:latin typeface="Times New Roman" panose="02020603050405020304" pitchFamily="18" charset="0"/>
                        </a:rPr>
                        <a:t>Sr. No.</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Algorithms</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Performance</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Reliability</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Scalability (problem size ↑)</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CO₂ / energy impact</a:t>
                      </a: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800" b="1" i="0" u="none" strike="noStrike">
                          <a:solidFill>
                            <a:srgbClr val="000000"/>
                          </a:solidFill>
                          <a:effectLst/>
                          <a:latin typeface="Times New Roman" panose="02020603050405020304" pitchFamily="18" charset="0"/>
                          <a:cs typeface="Times New Roman" panose="02020603050405020304" pitchFamily="18" charset="0"/>
                        </a:rPr>
                        <a:t>9</a:t>
                      </a:r>
                    </a:p>
                  </a:txBody>
                  <a:tcPr marL="9525" marR="9525" marT="9525" marB="0" anchor="ctr"/>
                </a:tc>
                <a:tc>
                  <a:txBody>
                    <a:bodyPr/>
                    <a:lstStyle/>
                    <a:p>
                      <a:pPr algn="ctr" fontAlgn="ctr"/>
                      <a:r>
                        <a:rPr lang="en-US" sz="1800" b="1" i="0" u="none" strike="noStrike" dirty="0">
                          <a:solidFill>
                            <a:srgbClr val="000000"/>
                          </a:solidFill>
                          <a:effectLst/>
                          <a:latin typeface="Times New Roman" panose="02020603050405020304" pitchFamily="18" charset="0"/>
                          <a:cs typeface="Times New Roman" panose="02020603050405020304" pitchFamily="18" charset="0"/>
                        </a:rPr>
                        <a:t>Annealing</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 &amp; 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800" b="1" i="0" u="none" strike="noStrike">
                          <a:solidFill>
                            <a:srgbClr val="000000"/>
                          </a:solidFill>
                          <a:effectLst/>
                          <a:latin typeface="Times New Roman" panose="02020603050405020304" pitchFamily="18" charset="0"/>
                          <a:cs typeface="Times New Roman" panose="02020603050405020304" pitchFamily="18" charset="0"/>
                        </a:rPr>
                        <a:t>10</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cs typeface="Times New Roman" panose="02020603050405020304" pitchFamily="18" charset="0"/>
                        </a:rPr>
                        <a:t>NN</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800" b="1" i="0" u="none" strike="noStrike">
                          <a:solidFill>
                            <a:srgbClr val="000000"/>
                          </a:solidFill>
                          <a:effectLst/>
                          <a:latin typeface="Times New Roman" panose="02020603050405020304" pitchFamily="18" charset="0"/>
                          <a:cs typeface="Times New Roman" panose="02020603050405020304" pitchFamily="18" charset="0"/>
                        </a:rPr>
                        <a:t>11</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cs typeface="Times New Roman" panose="02020603050405020304" pitchFamily="18" charset="0"/>
                        </a:rPr>
                        <a:t>QSVM</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extLst>
                  <a:ext uri="{0D108BD9-81ED-4DB2-BD59-A6C34878D82A}">
                    <a16:rowId xmlns:a16="http://schemas.microsoft.com/office/drawing/2014/main" val="2563728446"/>
                  </a:ext>
                </a:extLst>
              </a:tr>
              <a:tr h="1032445">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12</a:t>
                      </a:r>
                    </a:p>
                  </a:txBody>
                  <a:tcPr marL="9525" marR="9525" marT="9525" marB="0" anchor="ctr"/>
                </a:tc>
                <a:tc>
                  <a:txBody>
                    <a:bodyPr/>
                    <a:lstStyle/>
                    <a:p>
                      <a:pPr algn="ctr" fontAlgn="ctr"/>
                      <a:r>
                        <a:rPr lang="en-US" sz="1800" b="1" i="0" u="none" strike="noStrike">
                          <a:solidFill>
                            <a:srgbClr val="000000"/>
                          </a:solidFill>
                          <a:effectLst/>
                          <a:latin typeface="Times New Roman" panose="02020603050405020304" pitchFamily="18" charset="0"/>
                          <a:cs typeface="Times New Roman" panose="02020603050405020304" pitchFamily="18" charset="0"/>
                        </a:rPr>
                        <a:t>Kmeans</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cs typeface="Times New Roman" panose="02020603050405020304" pitchFamily="18" charset="0"/>
                        </a:rPr>
                        <a:t>CPU</a:t>
                      </a: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1706885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Overall Results (All Methods)</a:t>
            </a:r>
          </a:p>
        </p:txBody>
      </p:sp>
      <p:sp>
        <p:nvSpPr>
          <p:cNvPr id="5" name="Slide Number Placeholder 4"/>
          <p:cNvSpPr>
            <a:spLocks noGrp="1"/>
          </p:cNvSpPr>
          <p:nvPr>
            <p:ph type="sldNum" sz="quarter" idx="12"/>
          </p:nvPr>
        </p:nvSpPr>
        <p:spPr/>
        <p:txBody>
          <a:bodyPr/>
          <a:lstStyle/>
          <a:p>
            <a:fld id="{455776AC-4C38-4B11-8F6F-86E3449187BD}" type="slidenum">
              <a:rPr lang="en-US" smtClean="0"/>
              <a:t>14</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1194973681"/>
              </p:ext>
            </p:extLst>
          </p:nvPr>
        </p:nvGraphicFramePr>
        <p:xfrm>
          <a:off x="76200" y="1219200"/>
          <a:ext cx="8915401" cy="5364162"/>
        </p:xfrm>
        <a:graphic>
          <a:graphicData uri="http://schemas.openxmlformats.org/drawingml/2006/table">
            <a:tbl>
              <a:tblPr firstRow="1" bandRow="1">
                <a:tableStyleId>{073A0DAA-6AF3-43AB-8588-CEC1D06C72B9}</a:tableStyleId>
              </a:tblPr>
              <a:tblGrid>
                <a:gridCol w="381000">
                  <a:extLst>
                    <a:ext uri="{9D8B030D-6E8A-4147-A177-3AD203B41FA5}">
                      <a16:colId xmlns:a16="http://schemas.microsoft.com/office/drawing/2014/main" val="3910533694"/>
                    </a:ext>
                  </a:extLst>
                </a:gridCol>
                <a:gridCol w="1524000">
                  <a:extLst>
                    <a:ext uri="{9D8B030D-6E8A-4147-A177-3AD203B41FA5}">
                      <a16:colId xmlns:a16="http://schemas.microsoft.com/office/drawing/2014/main" val="3535517474"/>
                    </a:ext>
                  </a:extLst>
                </a:gridCol>
                <a:gridCol w="1371600">
                  <a:extLst>
                    <a:ext uri="{9D8B030D-6E8A-4147-A177-3AD203B41FA5}">
                      <a16:colId xmlns:a16="http://schemas.microsoft.com/office/drawing/2014/main" val="3533058432"/>
                    </a:ext>
                  </a:extLst>
                </a:gridCol>
                <a:gridCol w="1905000">
                  <a:extLst>
                    <a:ext uri="{9D8B030D-6E8A-4147-A177-3AD203B41FA5}">
                      <a16:colId xmlns:a16="http://schemas.microsoft.com/office/drawing/2014/main" val="3867688207"/>
                    </a:ext>
                  </a:extLst>
                </a:gridCol>
                <a:gridCol w="1905000">
                  <a:extLst>
                    <a:ext uri="{9D8B030D-6E8A-4147-A177-3AD203B41FA5}">
                      <a16:colId xmlns:a16="http://schemas.microsoft.com/office/drawing/2014/main" val="2883158159"/>
                    </a:ext>
                  </a:extLst>
                </a:gridCol>
                <a:gridCol w="1828801">
                  <a:extLst>
                    <a:ext uri="{9D8B030D-6E8A-4147-A177-3AD203B41FA5}">
                      <a16:colId xmlns:a16="http://schemas.microsoft.com/office/drawing/2014/main" val="1647142395"/>
                    </a:ext>
                  </a:extLst>
                </a:gridCol>
              </a:tblGrid>
              <a:tr h="1032445">
                <a:tc>
                  <a:txBody>
                    <a:bodyPr/>
                    <a:lstStyle/>
                    <a:p>
                      <a:pPr algn="ctr" fontAlgn="ctr"/>
                      <a:r>
                        <a:rPr lang="en-US" sz="1800" b="1" i="0" u="none" strike="noStrike">
                          <a:solidFill>
                            <a:schemeClr val="bg1"/>
                          </a:solidFill>
                          <a:effectLst/>
                          <a:latin typeface="Times New Roman" panose="02020603050405020304" pitchFamily="18" charset="0"/>
                        </a:rPr>
                        <a:t>Sr. No.</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Methods</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Performance</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Reliability</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Scalability (problem size ↑)</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CO₂ / energy impact</a:t>
                      </a: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800" b="1" i="0" u="none" strike="noStrike" dirty="0">
                          <a:solidFill>
                            <a:srgbClr val="000000"/>
                          </a:solidFill>
                          <a:effectLst/>
                          <a:latin typeface="Times New Roman" panose="02020603050405020304" pitchFamily="18" charset="0"/>
                        </a:rPr>
                        <a:t>1</a:t>
                      </a:r>
                    </a:p>
                  </a:txBody>
                  <a:tcPr marL="9525" marR="9525" marT="9525" marB="0" anchor="ctr"/>
                </a:tc>
                <a:tc>
                  <a:txBody>
                    <a:bodyPr/>
                    <a:lstStyle/>
                    <a:p>
                      <a:pPr algn="ctr" fontAlgn="ctr"/>
                      <a:r>
                        <a:rPr lang="en-US" sz="1800" b="1" i="0" u="none" strike="noStrike" dirty="0">
                          <a:solidFill>
                            <a:srgbClr val="000000"/>
                          </a:solidFill>
                          <a:effectLst/>
                          <a:latin typeface="Times New Roman" panose="02020603050405020304" pitchFamily="18" charset="0"/>
                        </a:rPr>
                        <a:t>QFT</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800" b="1" i="0" u="none" strike="noStrike">
                          <a:solidFill>
                            <a:srgbClr val="000000"/>
                          </a:solidFill>
                          <a:effectLst/>
                          <a:latin typeface="Times New Roman" panose="02020603050405020304" pitchFamily="18" charset="0"/>
                        </a:rPr>
                        <a:t>2</a:t>
                      </a:r>
                    </a:p>
                  </a:txBody>
                  <a:tcPr marL="9525" marR="9525" marT="9525" marB="0" anchor="ctr"/>
                </a:tc>
                <a:tc>
                  <a:txBody>
                    <a:bodyPr/>
                    <a:lstStyle/>
                    <a:p>
                      <a:pPr algn="ctr" fontAlgn="b"/>
                      <a:r>
                        <a:rPr lang="en-US" sz="1800" b="1" i="0" u="none" strike="noStrike" dirty="0">
                          <a:solidFill>
                            <a:srgbClr val="000000"/>
                          </a:solidFill>
                          <a:effectLst/>
                          <a:latin typeface="Times New Roman" panose="02020603050405020304" pitchFamily="18" charset="0"/>
                        </a:rPr>
                        <a:t>Amplitude Amplification</a:t>
                      </a:r>
                    </a:p>
                  </a:txBody>
                  <a:tcPr marL="9525" marR="9525" marT="9525" marB="0" anchor="b"/>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800" b="1" i="0" u="none" strike="noStrike">
                          <a:solidFill>
                            <a:srgbClr val="000000"/>
                          </a:solidFill>
                          <a:effectLst/>
                          <a:latin typeface="Times New Roman" panose="02020603050405020304" pitchFamily="18" charset="0"/>
                        </a:rPr>
                        <a:t>3</a:t>
                      </a:r>
                    </a:p>
                  </a:txBody>
                  <a:tcPr marL="9525" marR="9525" marT="9525" marB="0" anchor="ctr"/>
                </a:tc>
                <a:tc>
                  <a:txBody>
                    <a:bodyPr/>
                    <a:lstStyle/>
                    <a:p>
                      <a:pPr algn="ctr" fontAlgn="b"/>
                      <a:r>
                        <a:rPr lang="en-US" sz="1800" b="1" i="0" u="none" strike="noStrike">
                          <a:solidFill>
                            <a:srgbClr val="000000"/>
                          </a:solidFill>
                          <a:effectLst/>
                          <a:latin typeface="Times New Roman" panose="02020603050405020304" pitchFamily="18" charset="0"/>
                        </a:rPr>
                        <a:t>Hamiltonian Simulation</a:t>
                      </a:r>
                    </a:p>
                  </a:txBody>
                  <a:tcPr marL="9525" marR="9525" marT="9525" marB="0" anchor="b"/>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extLst>
                  <a:ext uri="{0D108BD9-81ED-4DB2-BD59-A6C34878D82A}">
                    <a16:rowId xmlns:a16="http://schemas.microsoft.com/office/drawing/2014/main" val="2563728446"/>
                  </a:ext>
                </a:extLst>
              </a:tr>
              <a:tr h="1032445">
                <a:tc>
                  <a:txBody>
                    <a:bodyPr/>
                    <a:lstStyle/>
                    <a:p>
                      <a:pPr algn="ctr" fontAlgn="ctr"/>
                      <a:r>
                        <a:rPr lang="en-US" sz="1800" b="1" i="0" u="none" strike="noStrike">
                          <a:solidFill>
                            <a:srgbClr val="000000"/>
                          </a:solidFill>
                          <a:effectLst/>
                          <a:latin typeface="Times New Roman" panose="02020603050405020304" pitchFamily="18" charset="0"/>
                        </a:rPr>
                        <a:t>4</a:t>
                      </a:r>
                    </a:p>
                  </a:txBody>
                  <a:tcPr marL="9525" marR="9525" marT="9525" marB="0" anchor="ctr"/>
                </a:tc>
                <a:tc>
                  <a:txBody>
                    <a:bodyPr/>
                    <a:lstStyle/>
                    <a:p>
                      <a:pPr algn="ctr" fontAlgn="b"/>
                      <a:r>
                        <a:rPr lang="en-US" sz="1800" b="1" i="0" u="none" strike="noStrike">
                          <a:solidFill>
                            <a:srgbClr val="000000"/>
                          </a:solidFill>
                          <a:effectLst/>
                          <a:latin typeface="Times New Roman" panose="02020603050405020304" pitchFamily="18" charset="0"/>
                        </a:rPr>
                        <a:t>Trotterization</a:t>
                      </a:r>
                    </a:p>
                  </a:txBody>
                  <a:tcPr marL="9525" marR="9525" marT="9525" marB="0" anchor="b"/>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extLst>
                  <a:ext uri="{0D108BD9-81ED-4DB2-BD59-A6C34878D82A}">
                    <a16:rowId xmlns:a16="http://schemas.microsoft.com/office/drawing/2014/main" val="2943844154"/>
                  </a:ext>
                </a:extLst>
              </a:tr>
            </a:tbl>
          </a:graphicData>
        </a:graphic>
      </p:graphicFrame>
    </p:spTree>
    <p:extLst>
      <p:ext uri="{BB962C8B-B14F-4D97-AF65-F5344CB8AC3E}">
        <p14:creationId xmlns:p14="http://schemas.microsoft.com/office/powerpoint/2010/main" val="2989956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Overall Results (All Methods)</a:t>
            </a:r>
          </a:p>
        </p:txBody>
      </p:sp>
      <p:sp>
        <p:nvSpPr>
          <p:cNvPr id="5" name="Slide Number Placeholder 4"/>
          <p:cNvSpPr>
            <a:spLocks noGrp="1"/>
          </p:cNvSpPr>
          <p:nvPr>
            <p:ph type="sldNum" sz="quarter" idx="12"/>
          </p:nvPr>
        </p:nvSpPr>
        <p:spPr/>
        <p:txBody>
          <a:bodyPr/>
          <a:lstStyle/>
          <a:p>
            <a:fld id="{455776AC-4C38-4B11-8F6F-86E3449187BD}" type="slidenum">
              <a:rPr lang="en-US" smtClean="0"/>
              <a:t>15</a:t>
            </a:fld>
            <a:endParaRPr lang="en-US"/>
          </a:p>
        </p:txBody>
      </p:sp>
      <p:graphicFrame>
        <p:nvGraphicFramePr>
          <p:cNvPr id="8" name="Table 7">
            <a:extLst>
              <a:ext uri="{FF2B5EF4-FFF2-40B4-BE49-F238E27FC236}">
                <a16:creationId xmlns:a16="http://schemas.microsoft.com/office/drawing/2014/main" id="{7BC81F5C-ABE6-466C-A89F-970DBEA00C10}"/>
              </a:ext>
            </a:extLst>
          </p:cNvPr>
          <p:cNvGraphicFramePr>
            <a:graphicFrameLocks noGrp="1"/>
          </p:cNvGraphicFramePr>
          <p:nvPr>
            <p:extLst>
              <p:ext uri="{D42A27DB-BD31-4B8C-83A1-F6EECF244321}">
                <p14:modId xmlns:p14="http://schemas.microsoft.com/office/powerpoint/2010/main" val="150873836"/>
              </p:ext>
            </p:extLst>
          </p:nvPr>
        </p:nvGraphicFramePr>
        <p:xfrm>
          <a:off x="76200" y="1219200"/>
          <a:ext cx="8915401" cy="4331717"/>
        </p:xfrm>
        <a:graphic>
          <a:graphicData uri="http://schemas.openxmlformats.org/drawingml/2006/table">
            <a:tbl>
              <a:tblPr firstRow="1" bandRow="1">
                <a:tableStyleId>{073A0DAA-6AF3-43AB-8588-CEC1D06C72B9}</a:tableStyleId>
              </a:tblPr>
              <a:tblGrid>
                <a:gridCol w="381000">
                  <a:extLst>
                    <a:ext uri="{9D8B030D-6E8A-4147-A177-3AD203B41FA5}">
                      <a16:colId xmlns:a16="http://schemas.microsoft.com/office/drawing/2014/main" val="3910533694"/>
                    </a:ext>
                  </a:extLst>
                </a:gridCol>
                <a:gridCol w="1524000">
                  <a:extLst>
                    <a:ext uri="{9D8B030D-6E8A-4147-A177-3AD203B41FA5}">
                      <a16:colId xmlns:a16="http://schemas.microsoft.com/office/drawing/2014/main" val="3535517474"/>
                    </a:ext>
                  </a:extLst>
                </a:gridCol>
                <a:gridCol w="1371600">
                  <a:extLst>
                    <a:ext uri="{9D8B030D-6E8A-4147-A177-3AD203B41FA5}">
                      <a16:colId xmlns:a16="http://schemas.microsoft.com/office/drawing/2014/main" val="3533058432"/>
                    </a:ext>
                  </a:extLst>
                </a:gridCol>
                <a:gridCol w="1905000">
                  <a:extLst>
                    <a:ext uri="{9D8B030D-6E8A-4147-A177-3AD203B41FA5}">
                      <a16:colId xmlns:a16="http://schemas.microsoft.com/office/drawing/2014/main" val="3867688207"/>
                    </a:ext>
                  </a:extLst>
                </a:gridCol>
                <a:gridCol w="1905000">
                  <a:extLst>
                    <a:ext uri="{9D8B030D-6E8A-4147-A177-3AD203B41FA5}">
                      <a16:colId xmlns:a16="http://schemas.microsoft.com/office/drawing/2014/main" val="2883158159"/>
                    </a:ext>
                  </a:extLst>
                </a:gridCol>
                <a:gridCol w="1828801">
                  <a:extLst>
                    <a:ext uri="{9D8B030D-6E8A-4147-A177-3AD203B41FA5}">
                      <a16:colId xmlns:a16="http://schemas.microsoft.com/office/drawing/2014/main" val="1647142395"/>
                    </a:ext>
                  </a:extLst>
                </a:gridCol>
              </a:tblGrid>
              <a:tr h="1032445">
                <a:tc>
                  <a:txBody>
                    <a:bodyPr/>
                    <a:lstStyle/>
                    <a:p>
                      <a:pPr algn="ctr" fontAlgn="ctr"/>
                      <a:r>
                        <a:rPr lang="en-US" sz="1800" b="1" i="0" u="none" strike="noStrike" dirty="0">
                          <a:solidFill>
                            <a:schemeClr val="bg1"/>
                          </a:solidFill>
                          <a:effectLst/>
                          <a:latin typeface="Times New Roman" panose="02020603050405020304" pitchFamily="18" charset="0"/>
                        </a:rPr>
                        <a:t>Sr. No.</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Methods</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Performance</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Reliability</a:t>
                      </a:r>
                    </a:p>
                  </a:txBody>
                  <a:tcPr marL="9525" marR="9525" marT="9525" marB="0" anchor="ctr"/>
                </a:tc>
                <a:tc>
                  <a:txBody>
                    <a:bodyPr/>
                    <a:lstStyle/>
                    <a:p>
                      <a:pPr algn="ctr" fontAlgn="ctr"/>
                      <a:r>
                        <a:rPr lang="en-US" sz="1800" b="1" i="0" u="none" strike="noStrike">
                          <a:solidFill>
                            <a:schemeClr val="bg1"/>
                          </a:solidFill>
                          <a:effectLst/>
                          <a:latin typeface="Times New Roman" panose="02020603050405020304" pitchFamily="18" charset="0"/>
                        </a:rPr>
                        <a:t>Scalability (problem size ↑)</a:t>
                      </a:r>
                    </a:p>
                  </a:txBody>
                  <a:tcPr marL="9525" marR="9525" marT="9525" marB="0" anchor="ctr"/>
                </a:tc>
                <a:tc>
                  <a:txBody>
                    <a:bodyPr/>
                    <a:lstStyle/>
                    <a:p>
                      <a:pPr algn="ctr" fontAlgn="ctr"/>
                      <a:r>
                        <a:rPr lang="en-US" sz="1800" b="1" i="0" u="none" strike="noStrike" dirty="0">
                          <a:solidFill>
                            <a:schemeClr val="bg1"/>
                          </a:solidFill>
                          <a:effectLst/>
                          <a:latin typeface="Times New Roman" panose="02020603050405020304" pitchFamily="18" charset="0"/>
                        </a:rPr>
                        <a:t>CO₂ / energy impact</a:t>
                      </a:r>
                    </a:p>
                  </a:txBody>
                  <a:tcPr marL="9525" marR="9525" marT="9525" marB="0" anchor="ctr"/>
                </a:tc>
                <a:extLst>
                  <a:ext uri="{0D108BD9-81ED-4DB2-BD59-A6C34878D82A}">
                    <a16:rowId xmlns:a16="http://schemas.microsoft.com/office/drawing/2014/main" val="2600768916"/>
                  </a:ext>
                </a:extLst>
              </a:tr>
              <a:tr h="944539">
                <a:tc>
                  <a:txBody>
                    <a:bodyPr/>
                    <a:lstStyle/>
                    <a:p>
                      <a:pPr algn="ctr" fontAlgn="ctr"/>
                      <a:r>
                        <a:rPr lang="en-US" sz="1800" b="1" i="0" u="none" strike="noStrike">
                          <a:solidFill>
                            <a:srgbClr val="000000"/>
                          </a:solidFill>
                          <a:effectLst/>
                          <a:latin typeface="Times New Roman" panose="02020603050405020304" pitchFamily="18" charset="0"/>
                        </a:rPr>
                        <a:t>5</a:t>
                      </a:r>
                    </a:p>
                  </a:txBody>
                  <a:tcPr marL="9525" marR="9525" marT="9525" marB="0" anchor="ctr"/>
                </a:tc>
                <a:tc>
                  <a:txBody>
                    <a:bodyPr/>
                    <a:lstStyle/>
                    <a:p>
                      <a:pPr algn="ctr" fontAlgn="b"/>
                      <a:r>
                        <a:rPr lang="en-US" sz="1800" b="1" i="0" u="none" strike="noStrike">
                          <a:solidFill>
                            <a:srgbClr val="000000"/>
                          </a:solidFill>
                          <a:effectLst/>
                          <a:latin typeface="Times New Roman" panose="02020603050405020304" pitchFamily="18" charset="0"/>
                        </a:rPr>
                        <a:t>Adiabetic Evolution</a:t>
                      </a:r>
                    </a:p>
                  </a:txBody>
                  <a:tcPr marL="9525" marR="9525" marT="9525" marB="0" anchor="b"/>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extLst>
                  <a:ext uri="{0D108BD9-81ED-4DB2-BD59-A6C34878D82A}">
                    <a16:rowId xmlns:a16="http://schemas.microsoft.com/office/drawing/2014/main" val="1618921442"/>
                  </a:ext>
                </a:extLst>
              </a:tr>
              <a:tr h="1410194">
                <a:tc>
                  <a:txBody>
                    <a:bodyPr/>
                    <a:lstStyle/>
                    <a:p>
                      <a:pPr algn="ctr" fontAlgn="ctr"/>
                      <a:r>
                        <a:rPr lang="en-US" sz="1800" b="1" i="0" u="none" strike="noStrike">
                          <a:solidFill>
                            <a:srgbClr val="000000"/>
                          </a:solidFill>
                          <a:effectLst/>
                          <a:latin typeface="Times New Roman" panose="02020603050405020304" pitchFamily="18" charset="0"/>
                        </a:rPr>
                        <a:t>6</a:t>
                      </a:r>
                    </a:p>
                  </a:txBody>
                  <a:tcPr marL="9525" marR="9525" marT="9525" marB="0" anchor="ctr"/>
                </a:tc>
                <a:tc>
                  <a:txBody>
                    <a:bodyPr/>
                    <a:lstStyle/>
                    <a:p>
                      <a:pPr algn="ctr" fontAlgn="b"/>
                      <a:r>
                        <a:rPr lang="en-US" sz="1800" b="1" i="0" u="none" strike="noStrike" dirty="0">
                          <a:solidFill>
                            <a:srgbClr val="000000"/>
                          </a:solidFill>
                          <a:effectLst/>
                          <a:latin typeface="Times New Roman" panose="02020603050405020304" pitchFamily="18" charset="0"/>
                        </a:rPr>
                        <a:t>State Tomography</a:t>
                      </a:r>
                    </a:p>
                  </a:txBody>
                  <a:tcPr marL="9525" marR="9525" marT="9525" marB="0" anchor="b"/>
                </a:tc>
                <a:tc>
                  <a:txBody>
                    <a:bodyPr/>
                    <a:lstStyle/>
                    <a:p>
                      <a:pPr algn="ctr" fontAlgn="ctr"/>
                      <a:r>
                        <a:rPr lang="en-US" sz="1800" b="0" i="0" u="none" strike="noStrike" dirty="0">
                          <a:solidFill>
                            <a:srgbClr val="000000"/>
                          </a:solidFill>
                          <a:effectLst/>
                          <a:latin typeface="Times New Roman" panose="02020603050405020304" pitchFamily="18" charset="0"/>
                        </a:rPr>
                        <a:t>Ideal noiseless simulator</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Times New Roman" panose="02020603050405020304" pitchFamily="18" charset="0"/>
                        </a:rPr>
                        <a:t>CPU &amp; </a:t>
                      </a:r>
                    </a:p>
                    <a:p>
                      <a:pPr algn="ctr" fontAlgn="ctr"/>
                      <a:r>
                        <a:rPr lang="en-US" sz="1800" b="0" i="0" u="none" strike="noStrike" dirty="0">
                          <a:solidFill>
                            <a:srgbClr val="000000"/>
                          </a:solidFill>
                          <a:effectLst/>
                          <a:latin typeface="Times New Roman" panose="02020603050405020304" pitchFamily="18" charset="0"/>
                        </a:rPr>
                        <a:t>GPU (Tesla T4)</a:t>
                      </a:r>
                    </a:p>
                  </a:txBody>
                  <a:tcPr marL="9525" marR="9525" marT="9525" marB="0" anchor="ctr"/>
                </a:tc>
                <a:tc>
                  <a:txBody>
                    <a:bodyPr/>
                    <a:lstStyle/>
                    <a:p>
                      <a:pPr algn="ctr" fontAlgn="ctr"/>
                      <a:r>
                        <a:rPr lang="en-US" sz="1800" b="0" i="0" u="none" strike="noStrike" dirty="0">
                          <a:solidFill>
                            <a:srgbClr val="FF0000"/>
                          </a:solidFill>
                          <a:effectLst/>
                          <a:latin typeface="Times New Roman" panose="02020603050405020304" pitchFamily="18" charset="0"/>
                        </a:rPr>
                        <a:t>Real IBM Hardware</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Ideal noiseless simulator</a:t>
                      </a:r>
                    </a:p>
                  </a:txBody>
                  <a:tcPr marL="9525" marR="9525" marT="9525" marB="0" anchor="ctr"/>
                </a:tc>
                <a:extLst>
                  <a:ext uri="{0D108BD9-81ED-4DB2-BD59-A6C34878D82A}">
                    <a16:rowId xmlns:a16="http://schemas.microsoft.com/office/drawing/2014/main" val="1999304210"/>
                  </a:ext>
                </a:extLst>
              </a:tr>
              <a:tr h="944539">
                <a:tc>
                  <a:txBody>
                    <a:bodyPr/>
                    <a:lstStyle/>
                    <a:p>
                      <a:pPr algn="ctr" fontAlgn="ctr"/>
                      <a:r>
                        <a:rPr lang="en-US" sz="1800" b="1" i="0" u="none" strike="noStrike" dirty="0">
                          <a:solidFill>
                            <a:srgbClr val="000000"/>
                          </a:solidFill>
                          <a:effectLst/>
                          <a:latin typeface="Times New Roman" panose="02020603050405020304" pitchFamily="18" charset="0"/>
                        </a:rPr>
                        <a:t>7</a:t>
                      </a:r>
                    </a:p>
                  </a:txBody>
                  <a:tcPr marL="9525" marR="9525" marT="9525" marB="0" anchor="ctr"/>
                </a:tc>
                <a:tc>
                  <a:txBody>
                    <a:bodyPr/>
                    <a:lstStyle/>
                    <a:p>
                      <a:pPr algn="ctr" fontAlgn="b"/>
                      <a:r>
                        <a:rPr lang="en-US" sz="1800" b="1" i="0" u="none" strike="noStrike" dirty="0">
                          <a:solidFill>
                            <a:srgbClr val="000000"/>
                          </a:solidFill>
                          <a:effectLst/>
                          <a:latin typeface="Times New Roman" panose="02020603050405020304" pitchFamily="18" charset="0"/>
                        </a:rPr>
                        <a:t>Swap Test</a:t>
                      </a:r>
                    </a:p>
                  </a:txBody>
                  <a:tcPr marL="9525" marR="9525" marT="9525" marB="0" anchor="b"/>
                </a:tc>
                <a:tc>
                  <a:txBody>
                    <a:bodyPr/>
                    <a:lstStyle/>
                    <a:p>
                      <a:pPr algn="ctr" fontAlgn="ctr"/>
                      <a:r>
                        <a:rPr lang="en-US" sz="1800" b="0" i="0" u="none" strike="noStrike" dirty="0">
                          <a:solidFill>
                            <a:srgbClr val="000000"/>
                          </a:solidFill>
                          <a:effectLst/>
                          <a:latin typeface="Times New Roman" panose="02020603050405020304" pitchFamily="18" charset="0"/>
                        </a:rPr>
                        <a:t>GPU (Tesla T4)</a:t>
                      </a:r>
                    </a:p>
                  </a:txBody>
                  <a:tcPr marL="9525" marR="9525" marT="9525" marB="0" anchor="ctr"/>
                </a:tc>
                <a:tc>
                  <a:txBody>
                    <a:bodyPr/>
                    <a:lstStyle/>
                    <a:p>
                      <a:pPr algn="ctr" fontAlgn="ctr"/>
                      <a:r>
                        <a:rPr lang="en-US" sz="1800" b="0" i="0" u="none" strike="noStrike">
                          <a:solidFill>
                            <a:srgbClr val="000000"/>
                          </a:solidFill>
                          <a:effectLst/>
                          <a:latin typeface="Times New Roman" panose="02020603050405020304" pitchFamily="18" charset="0"/>
                        </a:rPr>
                        <a:t>CPU</a:t>
                      </a:r>
                    </a:p>
                  </a:txBody>
                  <a:tcPr marL="9525" marR="9525" marT="9525" marB="0" anchor="ctr"/>
                </a:tc>
                <a:tc>
                  <a:txBody>
                    <a:bodyPr/>
                    <a:lstStyle/>
                    <a:p>
                      <a:pPr algn="ctr" fontAlgn="ctr"/>
                      <a:r>
                        <a:rPr lang="en-US" sz="1800" b="0" i="0" u="none" strike="noStrike" dirty="0">
                          <a:solidFill>
                            <a:srgbClr val="FF0000"/>
                          </a:solidFill>
                          <a:effectLst/>
                          <a:latin typeface="Times New Roman" panose="02020603050405020304" pitchFamily="18" charset="0"/>
                        </a:rPr>
                        <a:t>Real IBM Hardware</a:t>
                      </a:r>
                    </a:p>
                  </a:txBody>
                  <a:tcPr marL="9525" marR="9525" marT="9525" marB="0" anchor="ctr"/>
                </a:tc>
                <a:tc>
                  <a:txBody>
                    <a:bodyPr/>
                    <a:lstStyle/>
                    <a:p>
                      <a:pPr algn="ctr" fontAlgn="ctr"/>
                      <a:r>
                        <a:rPr lang="en-US" sz="1800" b="0" i="0" u="none" strike="noStrike" dirty="0">
                          <a:solidFill>
                            <a:srgbClr val="000000"/>
                          </a:solidFill>
                          <a:effectLst/>
                          <a:latin typeface="Times New Roman" panose="02020603050405020304" pitchFamily="18" charset="0"/>
                        </a:rPr>
                        <a:t>GPU (Tesla T4)</a:t>
                      </a:r>
                    </a:p>
                  </a:txBody>
                  <a:tcPr marL="9525" marR="9525" marT="9525" marB="0" anchor="ctr"/>
                </a:tc>
                <a:extLst>
                  <a:ext uri="{0D108BD9-81ED-4DB2-BD59-A6C34878D82A}">
                    <a16:rowId xmlns:a16="http://schemas.microsoft.com/office/drawing/2014/main" val="2563728446"/>
                  </a:ext>
                </a:extLst>
              </a:tr>
            </a:tbl>
          </a:graphicData>
        </a:graphic>
      </p:graphicFrame>
    </p:spTree>
    <p:extLst>
      <p:ext uri="{BB962C8B-B14F-4D97-AF65-F5344CB8AC3E}">
        <p14:creationId xmlns:p14="http://schemas.microsoft.com/office/powerpoint/2010/main" val="4110642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Overall Results (All Algorithms)</a:t>
            </a:r>
          </a:p>
        </p:txBody>
      </p:sp>
      <p:sp>
        <p:nvSpPr>
          <p:cNvPr id="5" name="Slide Number Placeholder 4"/>
          <p:cNvSpPr>
            <a:spLocks noGrp="1"/>
          </p:cNvSpPr>
          <p:nvPr>
            <p:ph type="sldNum" sz="quarter" idx="12"/>
          </p:nvPr>
        </p:nvSpPr>
        <p:spPr/>
        <p:txBody>
          <a:bodyPr/>
          <a:lstStyle/>
          <a:p>
            <a:fld id="{455776AC-4C38-4B11-8F6F-86E3449187BD}" type="slidenum">
              <a:rPr lang="en-US" smtClean="0"/>
              <a:t>16</a:t>
            </a:fld>
            <a:endParaRPr lang="en-US"/>
          </a:p>
        </p:txBody>
      </p:sp>
      <p:pic>
        <p:nvPicPr>
          <p:cNvPr id="4" name="Picture 3">
            <a:extLst>
              <a:ext uri="{FF2B5EF4-FFF2-40B4-BE49-F238E27FC236}">
                <a16:creationId xmlns:a16="http://schemas.microsoft.com/office/drawing/2014/main" id="{2689D030-556E-40DC-B694-7CF36B8B4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219200"/>
            <a:ext cx="8915400" cy="5137149"/>
          </a:xfrm>
          <a:prstGeom prst="rect">
            <a:avLst/>
          </a:prstGeom>
        </p:spPr>
      </p:pic>
    </p:spTree>
    <p:extLst>
      <p:ext uri="{BB962C8B-B14F-4D97-AF65-F5344CB8AC3E}">
        <p14:creationId xmlns:p14="http://schemas.microsoft.com/office/powerpoint/2010/main" val="2066711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Overall Results (All Methods)</a:t>
            </a:r>
          </a:p>
        </p:txBody>
      </p:sp>
      <p:sp>
        <p:nvSpPr>
          <p:cNvPr id="5" name="Slide Number Placeholder 4"/>
          <p:cNvSpPr>
            <a:spLocks noGrp="1"/>
          </p:cNvSpPr>
          <p:nvPr>
            <p:ph type="sldNum" sz="quarter" idx="12"/>
          </p:nvPr>
        </p:nvSpPr>
        <p:spPr/>
        <p:txBody>
          <a:bodyPr/>
          <a:lstStyle/>
          <a:p>
            <a:fld id="{455776AC-4C38-4B11-8F6F-86E3449187BD}" type="slidenum">
              <a:rPr lang="en-US" smtClean="0"/>
              <a:t>17</a:t>
            </a:fld>
            <a:endParaRPr lang="en-US"/>
          </a:p>
        </p:txBody>
      </p:sp>
      <p:pic>
        <p:nvPicPr>
          <p:cNvPr id="4" name="Picture 3">
            <a:extLst>
              <a:ext uri="{FF2B5EF4-FFF2-40B4-BE49-F238E27FC236}">
                <a16:creationId xmlns:a16="http://schemas.microsoft.com/office/drawing/2014/main" id="{0C965BC7-F215-4A68-9962-7C6ECBD3AA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037" y="1219200"/>
            <a:ext cx="8691563" cy="5137150"/>
          </a:xfrm>
          <a:prstGeom prst="rect">
            <a:avLst/>
          </a:prstGeom>
        </p:spPr>
      </p:pic>
    </p:spTree>
    <p:extLst>
      <p:ext uri="{BB962C8B-B14F-4D97-AF65-F5344CB8AC3E}">
        <p14:creationId xmlns:p14="http://schemas.microsoft.com/office/powerpoint/2010/main" val="1177934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Final Findings (Algorithms)</a:t>
            </a:r>
          </a:p>
        </p:txBody>
      </p:sp>
      <p:sp>
        <p:nvSpPr>
          <p:cNvPr id="5" name="Slide Number Placeholder 4"/>
          <p:cNvSpPr>
            <a:spLocks noGrp="1"/>
          </p:cNvSpPr>
          <p:nvPr>
            <p:ph type="sldNum" sz="quarter" idx="12"/>
          </p:nvPr>
        </p:nvSpPr>
        <p:spPr/>
        <p:txBody>
          <a:bodyPr/>
          <a:lstStyle/>
          <a:p>
            <a:fld id="{455776AC-4C38-4B11-8F6F-86E3449187BD}" type="slidenum">
              <a:rPr lang="en-US" smtClean="0"/>
              <a:t>18</a:t>
            </a:fld>
            <a:endParaRPr lang="en-US"/>
          </a:p>
        </p:txBody>
      </p:sp>
      <p:graphicFrame>
        <p:nvGraphicFramePr>
          <p:cNvPr id="3" name="Table 2">
            <a:extLst>
              <a:ext uri="{FF2B5EF4-FFF2-40B4-BE49-F238E27FC236}">
                <a16:creationId xmlns:a16="http://schemas.microsoft.com/office/drawing/2014/main" id="{9049B900-AEFF-4C00-A559-901A801C74BE}"/>
              </a:ext>
            </a:extLst>
          </p:cNvPr>
          <p:cNvGraphicFramePr>
            <a:graphicFrameLocks noGrp="1"/>
          </p:cNvGraphicFramePr>
          <p:nvPr>
            <p:extLst>
              <p:ext uri="{D42A27DB-BD31-4B8C-83A1-F6EECF244321}">
                <p14:modId xmlns:p14="http://schemas.microsoft.com/office/powerpoint/2010/main" val="2521443908"/>
              </p:ext>
            </p:extLst>
          </p:nvPr>
        </p:nvGraphicFramePr>
        <p:xfrm>
          <a:off x="457200" y="2057400"/>
          <a:ext cx="7924800" cy="2607945"/>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518550024"/>
                    </a:ext>
                  </a:extLst>
                </a:gridCol>
                <a:gridCol w="3810000">
                  <a:extLst>
                    <a:ext uri="{9D8B030D-6E8A-4147-A177-3AD203B41FA5}">
                      <a16:colId xmlns:a16="http://schemas.microsoft.com/office/drawing/2014/main" val="2709584097"/>
                    </a:ext>
                  </a:extLst>
                </a:gridCol>
              </a:tblGrid>
              <a:tr h="457200">
                <a:tc>
                  <a:txBody>
                    <a:bodyPr/>
                    <a:lstStyle/>
                    <a:p>
                      <a:pPr algn="ctr" fontAlgn="ctr"/>
                      <a:r>
                        <a:rPr lang="en-US" sz="4000" b="1" u="none" strike="noStrike" dirty="0">
                          <a:solidFill>
                            <a:srgbClr val="00B050"/>
                          </a:solidFill>
                          <a:effectLst/>
                          <a:latin typeface="Times New Roman" panose="02020603050405020304" pitchFamily="18" charset="0"/>
                          <a:cs typeface="Times New Roman" panose="02020603050405020304" pitchFamily="18" charset="0"/>
                        </a:rPr>
                        <a:t>Total Instances</a:t>
                      </a:r>
                      <a:endParaRPr lang="en-US" sz="4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4000" b="1" u="none" strike="noStrike" dirty="0">
                          <a:solidFill>
                            <a:srgbClr val="00B050"/>
                          </a:solidFill>
                          <a:effectLst/>
                          <a:latin typeface="Times New Roman" panose="02020603050405020304" pitchFamily="18" charset="0"/>
                          <a:cs typeface="Times New Roman" panose="02020603050405020304" pitchFamily="18" charset="0"/>
                        </a:rPr>
                        <a:t>4*12= 48</a:t>
                      </a:r>
                      <a:endParaRPr lang="en-US" sz="4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270681704"/>
                  </a:ext>
                </a:extLst>
              </a:tr>
              <a:tr h="457200">
                <a:tc>
                  <a:txBody>
                    <a:bodyPr/>
                    <a:lstStyle/>
                    <a:p>
                      <a:pPr algn="ctr" fontAlgn="ctr"/>
                      <a:r>
                        <a:rPr lang="en-US" sz="3200" u="none" strike="noStrike">
                          <a:effectLst/>
                          <a:latin typeface="Times New Roman" panose="02020603050405020304" pitchFamily="18" charset="0"/>
                          <a:cs typeface="Times New Roman" panose="02020603050405020304" pitchFamily="18" charset="0"/>
                        </a:rPr>
                        <a:t>CPU</a:t>
                      </a:r>
                      <a:endParaRPr lang="en-US" sz="3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u="none" strike="noStrike" dirty="0">
                          <a:effectLst/>
                          <a:latin typeface="Times New Roman" panose="02020603050405020304" pitchFamily="18" charset="0"/>
                          <a:cs typeface="Times New Roman" panose="02020603050405020304" pitchFamily="18" charset="0"/>
                        </a:rPr>
                        <a:t>31</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225489636"/>
                  </a:ext>
                </a:extLst>
              </a:tr>
              <a:tr h="457200">
                <a:tc>
                  <a:txBody>
                    <a:bodyPr/>
                    <a:lstStyle/>
                    <a:p>
                      <a:pPr algn="ctr" fontAlgn="ctr"/>
                      <a:r>
                        <a:rPr lang="en-US" sz="3200" u="none" strike="noStrike">
                          <a:effectLst/>
                          <a:latin typeface="Times New Roman" panose="02020603050405020304" pitchFamily="18" charset="0"/>
                          <a:cs typeface="Times New Roman" panose="02020603050405020304" pitchFamily="18" charset="0"/>
                        </a:rPr>
                        <a:t>Ideal noiseless simulator</a:t>
                      </a:r>
                      <a:endParaRPr lang="en-US" sz="3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u="none" strike="noStrike" dirty="0">
                          <a:effectLst/>
                          <a:latin typeface="Times New Roman" panose="02020603050405020304" pitchFamily="18" charset="0"/>
                          <a:cs typeface="Times New Roman" panose="02020603050405020304" pitchFamily="18" charset="0"/>
                        </a:rPr>
                        <a:t>13</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114933623"/>
                  </a:ext>
                </a:extLst>
              </a:tr>
              <a:tr h="457200">
                <a:tc>
                  <a:txBody>
                    <a:bodyPr/>
                    <a:lstStyle/>
                    <a:p>
                      <a:pPr algn="ctr" fontAlgn="ctr"/>
                      <a:r>
                        <a:rPr lang="en-US" sz="3200" u="none" strike="noStrike">
                          <a:effectLst/>
                          <a:latin typeface="Times New Roman" panose="02020603050405020304" pitchFamily="18" charset="0"/>
                          <a:cs typeface="Times New Roman" panose="02020603050405020304" pitchFamily="18" charset="0"/>
                        </a:rPr>
                        <a:t>GPU (Tesla T4)</a:t>
                      </a:r>
                      <a:endParaRPr lang="en-US" sz="3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u="none" strike="noStrike" dirty="0">
                          <a:effectLst/>
                          <a:latin typeface="Times New Roman" panose="02020603050405020304" pitchFamily="18" charset="0"/>
                          <a:cs typeface="Times New Roman" panose="02020603050405020304" pitchFamily="18" charset="0"/>
                        </a:rPr>
                        <a:t>11</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181802077"/>
                  </a:ext>
                </a:extLst>
              </a:tr>
              <a:tr h="457200">
                <a:tc>
                  <a:txBody>
                    <a:bodyPr/>
                    <a:lstStyle/>
                    <a:p>
                      <a:pPr algn="ctr" fontAlgn="ctr"/>
                      <a:r>
                        <a:rPr lang="en-US" sz="3200" u="none" strike="noStrike">
                          <a:effectLst/>
                          <a:latin typeface="Times New Roman" panose="02020603050405020304" pitchFamily="18" charset="0"/>
                          <a:cs typeface="Times New Roman" panose="02020603050405020304" pitchFamily="18" charset="0"/>
                        </a:rPr>
                        <a:t>Real IBM Hardware</a:t>
                      </a:r>
                      <a:endParaRPr lang="en-US" sz="3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u="none" strike="noStrike" dirty="0">
                          <a:effectLst/>
                          <a:latin typeface="Times New Roman" panose="02020603050405020304" pitchFamily="18" charset="0"/>
                          <a:cs typeface="Times New Roman" panose="02020603050405020304" pitchFamily="18" charset="0"/>
                        </a:rPr>
                        <a:t>1</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extLst>
                  <a:ext uri="{0D108BD9-81ED-4DB2-BD59-A6C34878D82A}">
                    <a16:rowId xmlns:a16="http://schemas.microsoft.com/office/drawing/2014/main" val="3149641121"/>
                  </a:ext>
                </a:extLst>
              </a:tr>
            </a:tbl>
          </a:graphicData>
        </a:graphic>
      </p:graphicFrame>
    </p:spTree>
    <p:extLst>
      <p:ext uri="{BB962C8B-B14F-4D97-AF65-F5344CB8AC3E}">
        <p14:creationId xmlns:p14="http://schemas.microsoft.com/office/powerpoint/2010/main" val="2531951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Final Findings (Methods)</a:t>
            </a:r>
          </a:p>
        </p:txBody>
      </p:sp>
      <p:sp>
        <p:nvSpPr>
          <p:cNvPr id="5" name="Slide Number Placeholder 4"/>
          <p:cNvSpPr>
            <a:spLocks noGrp="1"/>
          </p:cNvSpPr>
          <p:nvPr>
            <p:ph type="sldNum" sz="quarter" idx="12"/>
          </p:nvPr>
        </p:nvSpPr>
        <p:spPr/>
        <p:txBody>
          <a:bodyPr/>
          <a:lstStyle/>
          <a:p>
            <a:fld id="{455776AC-4C38-4B11-8F6F-86E3449187BD}" type="slidenum">
              <a:rPr lang="en-US" smtClean="0"/>
              <a:t>19</a:t>
            </a:fld>
            <a:endParaRPr lang="en-US"/>
          </a:p>
        </p:txBody>
      </p:sp>
      <p:graphicFrame>
        <p:nvGraphicFramePr>
          <p:cNvPr id="3" name="Table 2">
            <a:extLst>
              <a:ext uri="{FF2B5EF4-FFF2-40B4-BE49-F238E27FC236}">
                <a16:creationId xmlns:a16="http://schemas.microsoft.com/office/drawing/2014/main" id="{9049B900-AEFF-4C00-A559-901A801C74BE}"/>
              </a:ext>
            </a:extLst>
          </p:cNvPr>
          <p:cNvGraphicFramePr>
            <a:graphicFrameLocks noGrp="1"/>
          </p:cNvGraphicFramePr>
          <p:nvPr>
            <p:extLst>
              <p:ext uri="{D42A27DB-BD31-4B8C-83A1-F6EECF244321}">
                <p14:modId xmlns:p14="http://schemas.microsoft.com/office/powerpoint/2010/main" val="3271764743"/>
              </p:ext>
            </p:extLst>
          </p:nvPr>
        </p:nvGraphicFramePr>
        <p:xfrm>
          <a:off x="457200" y="2057400"/>
          <a:ext cx="7924800" cy="2607945"/>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518550024"/>
                    </a:ext>
                  </a:extLst>
                </a:gridCol>
                <a:gridCol w="3810000">
                  <a:extLst>
                    <a:ext uri="{9D8B030D-6E8A-4147-A177-3AD203B41FA5}">
                      <a16:colId xmlns:a16="http://schemas.microsoft.com/office/drawing/2014/main" val="2709584097"/>
                    </a:ext>
                  </a:extLst>
                </a:gridCol>
              </a:tblGrid>
              <a:tr h="457200">
                <a:tc>
                  <a:txBody>
                    <a:bodyPr/>
                    <a:lstStyle/>
                    <a:p>
                      <a:pPr algn="ctr" fontAlgn="ctr"/>
                      <a:r>
                        <a:rPr lang="en-US" sz="4000" b="1" u="none" strike="noStrike" dirty="0">
                          <a:solidFill>
                            <a:srgbClr val="00B050"/>
                          </a:solidFill>
                          <a:effectLst/>
                          <a:latin typeface="Times New Roman" panose="02020603050405020304" pitchFamily="18" charset="0"/>
                          <a:cs typeface="Times New Roman" panose="02020603050405020304" pitchFamily="18" charset="0"/>
                        </a:rPr>
                        <a:t>Total Instances</a:t>
                      </a:r>
                      <a:endParaRPr lang="en-US" sz="4000" b="1" i="0" u="none" strike="noStrike" dirty="0">
                        <a:solidFill>
                          <a:srgbClr val="00B05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4000" b="1" i="0" u="none" strike="noStrike" dirty="0">
                          <a:solidFill>
                            <a:srgbClr val="00B050"/>
                          </a:solidFill>
                          <a:effectLst/>
                          <a:latin typeface="Times New Roman" panose="02020603050405020304" pitchFamily="18" charset="0"/>
                        </a:rPr>
                        <a:t>4*7= 28</a:t>
                      </a:r>
                    </a:p>
                  </a:txBody>
                  <a:tcPr marL="9525" marR="9525" marT="9525" marB="0" anchor="ctr"/>
                </a:tc>
                <a:extLst>
                  <a:ext uri="{0D108BD9-81ED-4DB2-BD59-A6C34878D82A}">
                    <a16:rowId xmlns:a16="http://schemas.microsoft.com/office/drawing/2014/main" val="1270681704"/>
                  </a:ext>
                </a:extLst>
              </a:tr>
              <a:tr h="457200">
                <a:tc>
                  <a:txBody>
                    <a:bodyPr/>
                    <a:lstStyle/>
                    <a:p>
                      <a:pPr algn="ctr" fontAlgn="ctr"/>
                      <a:r>
                        <a:rPr lang="en-US" sz="3200" u="none" strike="noStrike">
                          <a:effectLst/>
                          <a:latin typeface="Times New Roman" panose="02020603050405020304" pitchFamily="18" charset="0"/>
                          <a:cs typeface="Times New Roman" panose="02020603050405020304" pitchFamily="18" charset="0"/>
                        </a:rPr>
                        <a:t>CPU</a:t>
                      </a:r>
                      <a:endParaRPr lang="en-US" sz="3200" b="1"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i="0" u="none" strike="noStrike" dirty="0">
                          <a:solidFill>
                            <a:srgbClr val="000000"/>
                          </a:solidFill>
                          <a:effectLst/>
                          <a:latin typeface="Calibri" panose="020F0502020204030204" pitchFamily="34" charset="0"/>
                        </a:rPr>
                        <a:t>12</a:t>
                      </a:r>
                    </a:p>
                  </a:txBody>
                  <a:tcPr marL="9525" marR="9525" marT="9525" marB="0" anchor="ctr"/>
                </a:tc>
                <a:extLst>
                  <a:ext uri="{0D108BD9-81ED-4DB2-BD59-A6C34878D82A}">
                    <a16:rowId xmlns:a16="http://schemas.microsoft.com/office/drawing/2014/main" val="3225489636"/>
                  </a:ext>
                </a:extLst>
              </a:tr>
              <a:tr h="457200">
                <a:tc>
                  <a:txBody>
                    <a:bodyPr/>
                    <a:lstStyle/>
                    <a:p>
                      <a:pPr algn="ctr" fontAlgn="ctr"/>
                      <a:r>
                        <a:rPr lang="en-US" sz="3200" u="none" strike="noStrike" dirty="0">
                          <a:effectLst/>
                          <a:latin typeface="Times New Roman" panose="02020603050405020304" pitchFamily="18" charset="0"/>
                          <a:cs typeface="Times New Roman" panose="02020603050405020304" pitchFamily="18" charset="0"/>
                        </a:rPr>
                        <a:t>Ideal noiseless simulator</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i="0" u="none" strike="noStrike" dirty="0">
                          <a:solidFill>
                            <a:srgbClr val="000000"/>
                          </a:solidFill>
                          <a:effectLst/>
                          <a:latin typeface="Calibri" panose="020F0502020204030204" pitchFamily="34" charset="0"/>
                        </a:rPr>
                        <a:t>11</a:t>
                      </a:r>
                    </a:p>
                  </a:txBody>
                  <a:tcPr marL="9525" marR="9525" marT="9525" marB="0" anchor="ctr"/>
                </a:tc>
                <a:extLst>
                  <a:ext uri="{0D108BD9-81ED-4DB2-BD59-A6C34878D82A}">
                    <a16:rowId xmlns:a16="http://schemas.microsoft.com/office/drawing/2014/main" val="1114933623"/>
                  </a:ext>
                </a:extLst>
              </a:tr>
              <a:tr h="457200">
                <a:tc>
                  <a:txBody>
                    <a:bodyPr/>
                    <a:lstStyle/>
                    <a:p>
                      <a:pPr algn="ctr" fontAlgn="ctr"/>
                      <a:r>
                        <a:rPr lang="en-US" sz="3200" u="none" strike="noStrike" dirty="0">
                          <a:effectLst/>
                          <a:latin typeface="Times New Roman" panose="02020603050405020304" pitchFamily="18" charset="0"/>
                          <a:cs typeface="Times New Roman" panose="02020603050405020304" pitchFamily="18" charset="0"/>
                        </a:rPr>
                        <a:t>GPU (Tesla T4)</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i="0" u="none" strike="noStrike" dirty="0">
                          <a:solidFill>
                            <a:srgbClr val="000000"/>
                          </a:solidFill>
                          <a:effectLst/>
                          <a:latin typeface="Calibri" panose="020F0502020204030204" pitchFamily="34" charset="0"/>
                        </a:rPr>
                        <a:t>4</a:t>
                      </a:r>
                    </a:p>
                  </a:txBody>
                  <a:tcPr marL="9525" marR="9525" marT="9525" marB="0" anchor="ctr"/>
                </a:tc>
                <a:extLst>
                  <a:ext uri="{0D108BD9-81ED-4DB2-BD59-A6C34878D82A}">
                    <a16:rowId xmlns:a16="http://schemas.microsoft.com/office/drawing/2014/main" val="181802077"/>
                  </a:ext>
                </a:extLst>
              </a:tr>
              <a:tr h="457200">
                <a:tc>
                  <a:txBody>
                    <a:bodyPr/>
                    <a:lstStyle/>
                    <a:p>
                      <a:pPr algn="ctr" fontAlgn="ctr"/>
                      <a:r>
                        <a:rPr lang="en-US" sz="3200" u="none" strike="noStrike" dirty="0">
                          <a:effectLst/>
                          <a:latin typeface="Times New Roman" panose="02020603050405020304" pitchFamily="18" charset="0"/>
                          <a:cs typeface="Times New Roman" panose="02020603050405020304" pitchFamily="18" charset="0"/>
                        </a:rPr>
                        <a:t>Real IBM Hardware</a:t>
                      </a:r>
                      <a:endParaRPr lang="en-US" sz="32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tc>
                <a:tc>
                  <a:txBody>
                    <a:bodyPr/>
                    <a:lstStyle/>
                    <a:p>
                      <a:pPr algn="ctr" fontAlgn="ctr"/>
                      <a:r>
                        <a:rPr lang="en-US" sz="3200" b="1" i="0" u="none" strike="noStrike" dirty="0">
                          <a:solidFill>
                            <a:srgbClr val="000000"/>
                          </a:solidFill>
                          <a:effectLst/>
                          <a:latin typeface="Calibri" panose="020F0502020204030204" pitchFamily="34" charset="0"/>
                        </a:rPr>
                        <a:t>2</a:t>
                      </a:r>
                    </a:p>
                  </a:txBody>
                  <a:tcPr marL="9525" marR="9525" marT="9525" marB="0" anchor="ctr"/>
                </a:tc>
                <a:extLst>
                  <a:ext uri="{0D108BD9-81ED-4DB2-BD59-A6C34878D82A}">
                    <a16:rowId xmlns:a16="http://schemas.microsoft.com/office/drawing/2014/main" val="3149641121"/>
                  </a:ext>
                </a:extLst>
              </a:tr>
            </a:tbl>
          </a:graphicData>
        </a:graphic>
      </p:graphicFrame>
    </p:spTree>
    <p:extLst>
      <p:ext uri="{BB962C8B-B14F-4D97-AF65-F5344CB8AC3E}">
        <p14:creationId xmlns:p14="http://schemas.microsoft.com/office/powerpoint/2010/main" val="2874286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Final Findings (Overall)</a:t>
            </a:r>
          </a:p>
        </p:txBody>
      </p:sp>
      <p:sp>
        <p:nvSpPr>
          <p:cNvPr id="5" name="Slide Number Placeholder 4"/>
          <p:cNvSpPr>
            <a:spLocks noGrp="1"/>
          </p:cNvSpPr>
          <p:nvPr>
            <p:ph type="sldNum" sz="quarter" idx="12"/>
          </p:nvPr>
        </p:nvSpPr>
        <p:spPr/>
        <p:txBody>
          <a:bodyPr/>
          <a:lstStyle/>
          <a:p>
            <a:fld id="{455776AC-4C38-4B11-8F6F-86E3449187BD}" type="slidenum">
              <a:rPr lang="en-US" smtClean="0"/>
              <a:t>20</a:t>
            </a:fld>
            <a:endParaRPr lang="en-US"/>
          </a:p>
        </p:txBody>
      </p:sp>
      <p:graphicFrame>
        <p:nvGraphicFramePr>
          <p:cNvPr id="3" name="Table 2">
            <a:extLst>
              <a:ext uri="{FF2B5EF4-FFF2-40B4-BE49-F238E27FC236}">
                <a16:creationId xmlns:a16="http://schemas.microsoft.com/office/drawing/2014/main" id="{9049B900-AEFF-4C00-A559-901A801C74BE}"/>
              </a:ext>
            </a:extLst>
          </p:cNvPr>
          <p:cNvGraphicFramePr>
            <a:graphicFrameLocks noGrp="1"/>
          </p:cNvGraphicFramePr>
          <p:nvPr>
            <p:extLst>
              <p:ext uri="{D42A27DB-BD31-4B8C-83A1-F6EECF244321}">
                <p14:modId xmlns:p14="http://schemas.microsoft.com/office/powerpoint/2010/main" val="1785655994"/>
              </p:ext>
            </p:extLst>
          </p:nvPr>
        </p:nvGraphicFramePr>
        <p:xfrm>
          <a:off x="457200" y="2057400"/>
          <a:ext cx="7924800" cy="2356485"/>
        </p:xfrm>
        <a:graphic>
          <a:graphicData uri="http://schemas.openxmlformats.org/drawingml/2006/table">
            <a:tbl>
              <a:tblPr>
                <a:tableStyleId>{5C22544A-7EE6-4342-B048-85BDC9FD1C3A}</a:tableStyleId>
              </a:tblPr>
              <a:tblGrid>
                <a:gridCol w="3124200">
                  <a:extLst>
                    <a:ext uri="{9D8B030D-6E8A-4147-A177-3AD203B41FA5}">
                      <a16:colId xmlns:a16="http://schemas.microsoft.com/office/drawing/2014/main" val="2518550024"/>
                    </a:ext>
                  </a:extLst>
                </a:gridCol>
                <a:gridCol w="4800600">
                  <a:extLst>
                    <a:ext uri="{9D8B030D-6E8A-4147-A177-3AD203B41FA5}">
                      <a16:colId xmlns:a16="http://schemas.microsoft.com/office/drawing/2014/main" val="2709584097"/>
                    </a:ext>
                  </a:extLst>
                </a:gridCol>
              </a:tblGrid>
              <a:tr h="1371600">
                <a:tc>
                  <a:txBody>
                    <a:bodyPr/>
                    <a:lstStyle/>
                    <a:p>
                      <a:pPr algn="ctr" fontAlgn="ctr"/>
                      <a:r>
                        <a:rPr lang="en-US" sz="4000" b="1" i="0" u="none" strike="noStrike" dirty="0">
                          <a:solidFill>
                            <a:srgbClr val="00B050"/>
                          </a:solidFill>
                          <a:effectLst/>
                          <a:latin typeface="Times New Roman" panose="02020603050405020304" pitchFamily="18" charset="0"/>
                          <a:cs typeface="Times New Roman" panose="02020603050405020304" pitchFamily="18" charset="0"/>
                        </a:rPr>
                        <a:t>Most Successful</a:t>
                      </a:r>
                    </a:p>
                  </a:txBody>
                  <a:tcPr marL="9525" marR="9525" marT="9525" marB="0" anchor="ctr"/>
                </a:tc>
                <a:tc>
                  <a:txBody>
                    <a:bodyPr/>
                    <a:lstStyle/>
                    <a:p>
                      <a:pPr algn="ctr" fontAlgn="ctr"/>
                      <a:r>
                        <a:rPr lang="en-US" sz="4000" b="1" i="0" u="none" strike="noStrike" dirty="0">
                          <a:solidFill>
                            <a:srgbClr val="00B050"/>
                          </a:solidFill>
                          <a:effectLst/>
                          <a:latin typeface="Times New Roman" panose="02020603050405020304" pitchFamily="18" charset="0"/>
                          <a:cs typeface="Times New Roman" panose="02020603050405020304" pitchFamily="18" charset="0"/>
                        </a:rPr>
                        <a:t>CPU</a:t>
                      </a:r>
                    </a:p>
                  </a:txBody>
                  <a:tcPr marL="9525" marR="9525" marT="9525" marB="0" anchor="ctr"/>
                </a:tc>
                <a:extLst>
                  <a:ext uri="{0D108BD9-81ED-4DB2-BD59-A6C34878D82A}">
                    <a16:rowId xmlns:a16="http://schemas.microsoft.com/office/drawing/2014/main" val="1270681704"/>
                  </a:ext>
                </a:extLst>
              </a:tr>
              <a:tr h="914400">
                <a:tc>
                  <a:txBody>
                    <a:bodyPr/>
                    <a:lstStyle/>
                    <a:p>
                      <a:pPr algn="ctr" fontAlgn="ctr"/>
                      <a:r>
                        <a:rPr lang="en-US" sz="3200" b="1" i="0" u="none" strike="noStrike" dirty="0">
                          <a:solidFill>
                            <a:srgbClr val="000000"/>
                          </a:solidFill>
                          <a:effectLst/>
                          <a:latin typeface="Times New Roman" panose="02020603050405020304" pitchFamily="18" charset="0"/>
                          <a:cs typeface="Times New Roman" panose="02020603050405020304" pitchFamily="18" charset="0"/>
                        </a:rPr>
                        <a:t>Least Successful</a:t>
                      </a:r>
                    </a:p>
                  </a:txBody>
                  <a:tcPr marL="9525" marR="9525" marT="9525" marB="0" anchor="ctr"/>
                </a:tc>
                <a:tc>
                  <a:txBody>
                    <a:bodyPr/>
                    <a:lstStyle/>
                    <a:p>
                      <a:pPr algn="ctr" fontAlgn="ctr"/>
                      <a:r>
                        <a:rPr lang="en-US" sz="3200" b="1" i="0" u="none" strike="noStrike" dirty="0">
                          <a:solidFill>
                            <a:srgbClr val="000000"/>
                          </a:solidFill>
                          <a:effectLst/>
                          <a:latin typeface="Times New Roman" panose="02020603050405020304" pitchFamily="18" charset="0"/>
                          <a:cs typeface="Times New Roman" panose="02020603050405020304" pitchFamily="18" charset="0"/>
                        </a:rPr>
                        <a:t>Real IBM Quantum Hardware</a:t>
                      </a:r>
                    </a:p>
                  </a:txBody>
                  <a:tcPr marL="9525" marR="9525" marT="9525" marB="0" anchor="ctr"/>
                </a:tc>
                <a:extLst>
                  <a:ext uri="{0D108BD9-81ED-4DB2-BD59-A6C34878D82A}">
                    <a16:rowId xmlns:a16="http://schemas.microsoft.com/office/drawing/2014/main" val="181802077"/>
                  </a:ext>
                </a:extLst>
              </a:tr>
            </a:tbl>
          </a:graphicData>
        </a:graphic>
      </p:graphicFrame>
    </p:spTree>
    <p:extLst>
      <p:ext uri="{BB962C8B-B14F-4D97-AF65-F5344CB8AC3E}">
        <p14:creationId xmlns:p14="http://schemas.microsoft.com/office/powerpoint/2010/main" val="8853808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What the Results Show?</a:t>
            </a:r>
          </a:p>
        </p:txBody>
      </p:sp>
      <p:sp>
        <p:nvSpPr>
          <p:cNvPr id="3" name="Content Placeholder 2"/>
          <p:cNvSpPr>
            <a:spLocks noGrp="1"/>
          </p:cNvSpPr>
          <p:nvPr>
            <p:ph idx="1"/>
          </p:nvPr>
        </p:nvSpPr>
        <p:spPr/>
        <p:txBody>
          <a:bodyPr>
            <a:noAutofit/>
          </a:bodyPr>
          <a:lstStyle/>
          <a:p>
            <a:pPr marL="514350" lvl="0" indent="-514350" algn="just">
              <a:buFont typeface="+mj-lt"/>
              <a:buAutoNum type="arabicPeriod"/>
            </a:pPr>
            <a:r>
              <a:rPr lang="en-US" sz="2200" b="1" dirty="0">
                <a:latin typeface="Times New Roman" panose="02020603050405020304" pitchFamily="18" charset="0"/>
                <a:cs typeface="Times New Roman" panose="02020603050405020304" pitchFamily="18" charset="0"/>
              </a:rPr>
              <a:t>Performance: </a:t>
            </a:r>
            <a:r>
              <a:rPr lang="en-US" sz="2200" dirty="0">
                <a:latin typeface="Times New Roman" panose="02020603050405020304" pitchFamily="18" charset="0"/>
                <a:cs typeface="Times New Roman" panose="02020603050405020304" pitchFamily="18" charset="0"/>
              </a:rPr>
              <a:t>CPU execution is consistently the most time-efficient end-to-end. GPU and ideal simulators can be competitive for specific configurations.</a:t>
            </a:r>
          </a:p>
          <a:p>
            <a:pPr marL="514350" lvl="0" indent="-514350" algn="just">
              <a:buFont typeface="+mj-lt"/>
              <a:buAutoNum type="arabicPeriod"/>
            </a:pPr>
            <a:r>
              <a:rPr lang="en-US" sz="2200" b="1" dirty="0">
                <a:latin typeface="Times New Roman" panose="02020603050405020304" pitchFamily="18" charset="0"/>
                <a:cs typeface="Times New Roman" panose="02020603050405020304" pitchFamily="18" charset="0"/>
              </a:rPr>
              <a:t>Reliability</a:t>
            </a:r>
            <a:r>
              <a:rPr lang="en-US" sz="2200" dirty="0">
                <a:latin typeface="Times New Roman" panose="02020603050405020304" pitchFamily="18" charset="0"/>
                <a:cs typeface="Times New Roman" panose="02020603050405020304" pitchFamily="18" charset="0"/>
              </a:rPr>
              <a:t> depends strongly on N (and steps): As system size N increases, reliability and accuracy become more sensitive to configuration. In general, more steps improve accuracy, but also increase runtime, resource use, and often CO₂.</a:t>
            </a:r>
          </a:p>
          <a:p>
            <a:pPr marL="514350" lvl="0" indent="-514350">
              <a:buFont typeface="+mj-lt"/>
              <a:buAutoNum type="arabicPeriod"/>
            </a:pPr>
            <a:r>
              <a:rPr lang="en-US" sz="2200" b="1" dirty="0">
                <a:latin typeface="Times New Roman" panose="02020603050405020304" pitchFamily="18" charset="0"/>
                <a:cs typeface="Times New Roman" panose="02020603050405020304" pitchFamily="18" charset="0"/>
              </a:rPr>
              <a:t>Scalability</a:t>
            </a:r>
            <a:r>
              <a:rPr lang="en-US" sz="2200" dirty="0">
                <a:latin typeface="Times New Roman" panose="02020603050405020304" pitchFamily="18" charset="0"/>
                <a:cs typeface="Times New Roman" panose="02020603050405020304" pitchFamily="18" charset="0"/>
              </a:rPr>
              <a:t> is not uniform: Scaling trends differ by platform. CPU tends to scale more smoothly in the tested range, while GPU and hardware show stronger overhead effects and variability.</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21</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1895789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normAutofit fontScale="92500" lnSpcReduction="10000"/>
          </a:bodyPr>
          <a:lstStyle/>
          <a:p>
            <a:pPr marL="514350" indent="-514350" algn="just">
              <a:buFont typeface="+mj-lt"/>
              <a:buAutoNum type="romanUcPeriod"/>
            </a:pPr>
            <a:r>
              <a:rPr lang="en-US" sz="2400" dirty="0">
                <a:latin typeface="Times New Roman" panose="02020603050405020304" pitchFamily="18" charset="0"/>
                <a:cs typeface="Times New Roman" panose="02020603050405020304" pitchFamily="18" charset="0"/>
              </a:rPr>
              <a:t>Across all evaluated benchmarks, the </a:t>
            </a:r>
            <a:r>
              <a:rPr lang="en-US" sz="2400" b="1" dirty="0">
                <a:latin typeface="Times New Roman" panose="02020603050405020304" pitchFamily="18" charset="0"/>
                <a:cs typeface="Times New Roman" panose="02020603050405020304" pitchFamily="18" charset="0"/>
              </a:rPr>
              <a:t>classical CPU is the overall winner</a:t>
            </a:r>
            <a:r>
              <a:rPr lang="en-US" sz="2400" dirty="0">
                <a:latin typeface="Times New Roman" panose="02020603050405020304" pitchFamily="18" charset="0"/>
                <a:cs typeface="Times New Roman" panose="02020603050405020304" pitchFamily="18" charset="0"/>
              </a:rPr>
              <a:t> in practical terms: it is consistently </a:t>
            </a:r>
            <a:r>
              <a:rPr lang="en-US" sz="2400" b="1" dirty="0">
                <a:latin typeface="Times New Roman" panose="02020603050405020304" pitchFamily="18" charset="0"/>
                <a:cs typeface="Times New Roman" panose="02020603050405020304" pitchFamily="18" charset="0"/>
              </a:rPr>
              <a:t>fastest</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most predictable</a:t>
            </a:r>
            <a:r>
              <a:rPr lang="en-US" sz="2400" dirty="0">
                <a:latin typeface="Times New Roman" panose="02020603050405020304" pitchFamily="18" charset="0"/>
                <a:cs typeface="Times New Roman" panose="02020603050405020304" pitchFamily="18" charset="0"/>
              </a:rPr>
              <a:t>, and typically </a:t>
            </a:r>
            <a:r>
              <a:rPr lang="en-US" sz="2400" b="1" dirty="0">
                <a:latin typeface="Times New Roman" panose="02020603050405020304" pitchFamily="18" charset="0"/>
                <a:cs typeface="Times New Roman" panose="02020603050405020304" pitchFamily="18" charset="0"/>
              </a:rPr>
              <a:t>lowest-impact</a:t>
            </a:r>
            <a:r>
              <a:rPr lang="en-US" sz="2400" dirty="0">
                <a:latin typeface="Times New Roman" panose="02020603050405020304" pitchFamily="18" charset="0"/>
                <a:cs typeface="Times New Roman" panose="02020603050405020304" pitchFamily="18" charset="0"/>
              </a:rPr>
              <a:t> (energy/CO₂) in our tested ranges. </a:t>
            </a:r>
          </a:p>
          <a:p>
            <a:pPr marL="514350" indent="-514350" algn="just">
              <a:buFont typeface="+mj-lt"/>
              <a:buAutoNum type="romanUcPeriod"/>
            </a:pPr>
            <a:r>
              <a:rPr lang="en-US" sz="2400" dirty="0">
                <a:latin typeface="Times New Roman" panose="02020603050405020304" pitchFamily="18" charset="0"/>
                <a:cs typeface="Times New Roman" panose="02020603050405020304" pitchFamily="18" charset="0"/>
              </a:rPr>
              <a:t>In contrast, </a:t>
            </a:r>
            <a:r>
              <a:rPr lang="en-US" sz="2400" b="1" dirty="0">
                <a:latin typeface="Times New Roman" panose="02020603050405020304" pitchFamily="18" charset="0"/>
                <a:cs typeface="Times New Roman" panose="02020603050405020304" pitchFamily="18" charset="0"/>
              </a:rPr>
              <a:t>real IBM quantum hardware consistently lags behind simulators and GPU</a:t>
            </a:r>
            <a:r>
              <a:rPr lang="en-US" sz="2400" dirty="0">
                <a:latin typeface="Times New Roman" panose="02020603050405020304" pitchFamily="18" charset="0"/>
                <a:cs typeface="Times New Roman" panose="02020603050405020304" pitchFamily="18" charset="0"/>
              </a:rPr>
              <a:t>, largely due to </a:t>
            </a:r>
            <a:r>
              <a:rPr lang="en-US" sz="2400" b="1" u="sng" dirty="0">
                <a:latin typeface="Times New Roman" panose="02020603050405020304" pitchFamily="18" charset="0"/>
                <a:cs typeface="Times New Roman" panose="02020603050405020304" pitchFamily="18" charset="0"/>
              </a:rPr>
              <a:t>noise + execution overhead</a:t>
            </a:r>
            <a:r>
              <a:rPr lang="en-US" sz="2400" b="1" dirty="0">
                <a:latin typeface="Times New Roman" panose="02020603050405020304" pitchFamily="18" charset="0"/>
                <a:cs typeface="Times New Roman" panose="02020603050405020304" pitchFamily="18" charset="0"/>
              </a:rPr>
              <a:t>.</a:t>
            </a:r>
          </a:p>
          <a:p>
            <a:pPr marL="514350" indent="-514350" algn="just">
              <a:buFont typeface="+mj-lt"/>
              <a:buAutoNum type="romanUcPeriod"/>
            </a:pPr>
            <a:r>
              <a:rPr lang="en-US" sz="2400" dirty="0">
                <a:latin typeface="Times New Roman" panose="02020603050405020304" pitchFamily="18" charset="0"/>
                <a:cs typeface="Times New Roman" panose="02020603050405020304" pitchFamily="18" charset="0"/>
              </a:rPr>
              <a:t>Real IBM hardware is the bottleneck. Hardware runs are dominated by </a:t>
            </a:r>
            <a:r>
              <a:rPr lang="en-US" sz="2400" u="sng" dirty="0">
                <a:latin typeface="Times New Roman" panose="02020603050405020304" pitchFamily="18" charset="0"/>
                <a:cs typeface="Times New Roman" panose="02020603050405020304" pitchFamily="18" charset="0"/>
              </a:rPr>
              <a:t>noise</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rPr>
              <a:t>calibration drift</a:t>
            </a:r>
            <a:r>
              <a:rPr lang="en-US" sz="2400" dirty="0">
                <a:latin typeface="Times New Roman" panose="02020603050405020304" pitchFamily="18" charset="0"/>
                <a:cs typeface="Times New Roman" panose="02020603050405020304" pitchFamily="18" charset="0"/>
              </a:rPr>
              <a:t>, and </a:t>
            </a:r>
            <a:r>
              <a:rPr lang="en-US" sz="2400" u="sng" dirty="0">
                <a:latin typeface="Times New Roman" panose="02020603050405020304" pitchFamily="18" charset="0"/>
                <a:cs typeface="Times New Roman" panose="02020603050405020304" pitchFamily="18" charset="0"/>
              </a:rPr>
              <a:t>cloud/control overhead</a:t>
            </a:r>
            <a:r>
              <a:rPr lang="en-US" sz="2400" dirty="0">
                <a:latin typeface="Times New Roman" panose="02020603050405020304" pitchFamily="18" charset="0"/>
                <a:cs typeface="Times New Roman" panose="02020603050405020304" pitchFamily="18" charset="0"/>
              </a:rPr>
              <a:t>, leading to lower practical performance and higher variance, even when algorithmic scaling should be favorable.</a:t>
            </a:r>
          </a:p>
          <a:p>
            <a:pPr marL="514350" indent="-514350" algn="just">
              <a:buFont typeface="+mj-lt"/>
              <a:buAutoNum type="romanUcPeriod"/>
            </a:pPr>
            <a:r>
              <a:rPr lang="en-US" sz="2400" dirty="0">
                <a:latin typeface="Times New Roman" panose="02020603050405020304" pitchFamily="18" charset="0"/>
                <a:cs typeface="Times New Roman" panose="02020603050405020304" pitchFamily="18" charset="0"/>
              </a:rPr>
              <a:t>It confirms that current quantum devices are still </a:t>
            </a:r>
            <a:r>
              <a:rPr lang="en-US" sz="2400" b="1" dirty="0">
                <a:solidFill>
                  <a:srgbClr val="FF0000"/>
                </a:solidFill>
                <a:latin typeface="Times New Roman" panose="02020603050405020304" pitchFamily="18" charset="0"/>
                <a:cs typeface="Times New Roman" panose="02020603050405020304" pitchFamily="18" charset="0"/>
              </a:rPr>
              <a:t>benchmark platforms</a:t>
            </a:r>
            <a:r>
              <a:rPr lang="en-US" sz="2400" dirty="0">
                <a:latin typeface="Times New Roman" panose="02020603050405020304" pitchFamily="18" charset="0"/>
                <a:cs typeface="Times New Roman" panose="02020603050405020304" pitchFamily="18" charset="0"/>
              </a:rPr>
              <a:t>, not yet </a:t>
            </a:r>
            <a:r>
              <a:rPr lang="en-US" sz="2400" b="1" u="sng" dirty="0">
                <a:solidFill>
                  <a:srgbClr val="00B050"/>
                </a:solidFill>
                <a:latin typeface="Times New Roman" panose="02020603050405020304" pitchFamily="18" charset="0"/>
                <a:cs typeface="Times New Roman" panose="02020603050405020304" pitchFamily="18" charset="0"/>
              </a:rPr>
              <a:t>performance platforms</a:t>
            </a:r>
            <a:r>
              <a:rPr lang="en-US" sz="2400" dirty="0">
                <a:latin typeface="Times New Roman" panose="02020603050405020304" pitchFamily="18" charset="0"/>
                <a:cs typeface="Times New Roman" panose="02020603050405020304" pitchFamily="18" charset="0"/>
              </a:rPr>
              <a:t>, for these workloads.</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22</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39388479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Final Message</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sz="2500" dirty="0">
                <a:latin typeface="Times New Roman" panose="02020603050405020304" pitchFamily="18" charset="0"/>
                <a:cs typeface="Times New Roman" panose="02020603050405020304" pitchFamily="18" charset="0"/>
              </a:rPr>
              <a:t>As I proposed in my Thesis-1 proposal, although Moore’s law has reached its physical limits and classical computers are expected to lose their effectiveness, there is a dire need for more efficient and reliable computing paradigms or alternatives (such as quantum computing at present). However, this new paradigm still requires substantial work, corrections, and contributions to demonstrate considerable improvements. Therefore, no clear quantum advantage appears in these experiments when judged by practical metrics (speed, reliability, and overhead), as per the proposition.</a:t>
            </a:r>
          </a:p>
          <a:p>
            <a:pPr marL="0" indent="0" algn="just">
              <a:buNone/>
            </a:pPr>
            <a:endParaRPr lang="en-US" sz="2400" dirty="0">
              <a:latin typeface="Times New Roman" panose="02020603050405020304" pitchFamily="18" charset="0"/>
              <a:cs typeface="Times New Roman" panose="02020603050405020304" pitchFamily="18" charset="0"/>
            </a:endParaRPr>
          </a:p>
          <a:p>
            <a:pPr marL="0" indent="0" algn="just">
              <a:buNone/>
            </a:pPr>
            <a:r>
              <a:rPr lang="en-US" sz="2400" b="1" dirty="0">
                <a:latin typeface="Times New Roman" panose="02020603050405020304" pitchFamily="18" charset="0"/>
                <a:cs typeface="Times New Roman" panose="02020603050405020304" pitchFamily="18" charset="0"/>
              </a:rPr>
              <a:t>Why?</a:t>
            </a:r>
          </a:p>
          <a:p>
            <a:pPr marL="0" indent="0" algn="just">
              <a:buNone/>
            </a:pPr>
            <a:endParaRPr lang="en-US" sz="2400" b="1" dirty="0">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While quantum machines are thousands of times faster than even the fastest supercomputer in the world.</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23</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1072121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Final Message</a:t>
            </a:r>
          </a:p>
        </p:txBody>
      </p:sp>
      <p:sp>
        <p:nvSpPr>
          <p:cNvPr id="3" name="Content Placeholder 2"/>
          <p:cNvSpPr>
            <a:spLocks noGrp="1"/>
          </p:cNvSpPr>
          <p:nvPr>
            <p:ph idx="1"/>
          </p:nvPr>
        </p:nvSpPr>
        <p:spPr/>
        <p:txBody>
          <a:bodyPr>
            <a:normAutofit/>
          </a:bodyPr>
          <a:lstStyle/>
          <a:p>
            <a:pPr marL="0" indent="0">
              <a:buNone/>
            </a:pPr>
            <a:r>
              <a:rPr lang="en-US" sz="2400" b="1" u="sng" dirty="0">
                <a:latin typeface="Times New Roman" panose="02020603050405020304" pitchFamily="18" charset="0"/>
                <a:cs typeface="Times New Roman" panose="02020603050405020304" pitchFamily="18" charset="0"/>
              </a:rPr>
              <a:t>Possible Known Reasons:</a:t>
            </a:r>
          </a:p>
          <a:p>
            <a:pPr marL="457200" indent="-457200">
              <a:buFont typeface="+mj-lt"/>
              <a:buAutoNum type="arabicPeriod"/>
            </a:pPr>
            <a:r>
              <a:rPr lang="en-US" sz="2300" dirty="0">
                <a:latin typeface="Times New Roman" panose="02020603050405020304" pitchFamily="18" charset="0"/>
                <a:cs typeface="Times New Roman" panose="02020603050405020304" pitchFamily="18" charset="0"/>
              </a:rPr>
              <a:t>Processing time by real IBM hardware. The time to upload the jobs on cloud or internet (IBM does not provide public information about it)</a:t>
            </a:r>
          </a:p>
          <a:p>
            <a:pPr marL="457200" indent="-457200">
              <a:buFont typeface="+mj-lt"/>
              <a:buAutoNum type="arabicPeriod"/>
            </a:pPr>
            <a:r>
              <a:rPr lang="en-US" sz="2300" dirty="0">
                <a:latin typeface="Times New Roman" panose="02020603050405020304" pitchFamily="18" charset="0"/>
                <a:cs typeface="Times New Roman" panose="02020603050405020304" pitchFamily="18" charset="0"/>
              </a:rPr>
              <a:t>Hardware calibration changes over time</a:t>
            </a:r>
          </a:p>
          <a:p>
            <a:pPr marL="457200" indent="-457200">
              <a:buFont typeface="+mj-lt"/>
              <a:buAutoNum type="arabicPeriod"/>
            </a:pPr>
            <a:r>
              <a:rPr lang="en-US" sz="2300" dirty="0">
                <a:latin typeface="Times New Roman" panose="02020603050405020304" pitchFamily="18" charset="0"/>
                <a:cs typeface="Times New Roman" panose="02020603050405020304" pitchFamily="18" charset="0"/>
              </a:rPr>
              <a:t>Variance among Quantum machine types/processor_types, qubit counts, fault tolerance values’ changes, and many other factors</a:t>
            </a:r>
          </a:p>
          <a:p>
            <a:pPr marL="457200" indent="-457200">
              <a:buFont typeface="+mj-lt"/>
              <a:buAutoNum type="arabicPeriod"/>
            </a:pPr>
            <a:r>
              <a:rPr lang="en-US" sz="2300" dirty="0">
                <a:latin typeface="Times New Roman" panose="02020603050405020304" pitchFamily="18" charset="0"/>
                <a:cs typeface="Times New Roman" panose="02020603050405020304" pitchFamily="18" charset="0"/>
              </a:rPr>
              <a:t>Concurrent job submission by different researchers at the same backend at the same time</a:t>
            </a:r>
          </a:p>
          <a:p>
            <a:pPr marL="457200" indent="-457200">
              <a:buFont typeface="+mj-lt"/>
              <a:buAutoNum type="arabicPeriod"/>
            </a:pPr>
            <a:r>
              <a:rPr lang="en-US" sz="2300" dirty="0">
                <a:latin typeface="Times New Roman" panose="02020603050405020304" pitchFamily="18" charset="0"/>
                <a:cs typeface="Times New Roman" panose="02020603050405020304" pitchFamily="18" charset="0"/>
              </a:rPr>
              <a:t>Change in Temperature/Environment of a particular Quantum machine over time</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24</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2003756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Final Message</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However, In some </a:t>
            </a:r>
            <a:r>
              <a:rPr lang="en-US" sz="2400" u="sng" dirty="0">
                <a:latin typeface="Times New Roman" panose="02020603050405020304" pitchFamily="18" charset="0"/>
                <a:cs typeface="Times New Roman" panose="02020603050405020304" pitchFamily="18" charset="0"/>
              </a:rPr>
              <a:t>experiments*</a:t>
            </a:r>
            <a:r>
              <a:rPr lang="en-US" sz="2400" dirty="0">
                <a:latin typeface="Times New Roman" panose="02020603050405020304" pitchFamily="18" charset="0"/>
                <a:cs typeface="Times New Roman" panose="02020603050405020304" pitchFamily="18" charset="0"/>
              </a:rPr>
              <a:t>, real IBM Quantum hardware runs the job within seconds while that particular job would have taken millions of years on other hardware.</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Similarly, reliability and scalability results also depend on problem size, hardness of problem, and nature of job etc.</a:t>
            </a:r>
          </a:p>
          <a:p>
            <a:pPr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With the public availability of commercial versions of quantum hardware/machines, there will be more improvements.</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25</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35130406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Future Work</a:t>
            </a:r>
          </a:p>
        </p:txBody>
      </p:sp>
      <p:sp>
        <p:nvSpPr>
          <p:cNvPr id="3" name="Content Placeholder 2"/>
          <p:cNvSpPr>
            <a:spLocks noGrp="1"/>
          </p:cNvSpPr>
          <p:nvPr>
            <p:ph idx="1"/>
          </p:nvPr>
        </p:nvSpPr>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Quantum benchmarking needs more work.</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Right now, results are highly sensitive to:</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problem size (N),</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circuit depth / step count,</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Hardware noise and calibration state,</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And system overhead (queueing, compilation, runtime control layers).</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26</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2150729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Please Give Your Feedback!</a:t>
            </a:r>
          </a:p>
        </p:txBody>
      </p:sp>
      <p:sp>
        <p:nvSpPr>
          <p:cNvPr id="3" name="Content Placeholder 2"/>
          <p:cNvSpPr>
            <a:spLocks noGrp="1"/>
          </p:cNvSpPr>
          <p:nvPr>
            <p:ph idx="1"/>
          </p:nvPr>
        </p:nvSpPr>
        <p:spPr/>
        <p:txBody>
          <a:bodyPr>
            <a:normAutofit/>
          </a:bodyPr>
          <a:lstStyle/>
          <a:p>
            <a:pPr marL="0" indent="0" algn="just">
              <a:buNone/>
            </a:pPr>
            <a:r>
              <a:rPr lang="en-US" sz="2400" b="1" dirty="0">
                <a:latin typeface="Times New Roman" panose="02020603050405020304" pitchFamily="18" charset="0"/>
                <a:cs typeface="Times New Roman" panose="02020603050405020304" pitchFamily="18" charset="0"/>
              </a:rPr>
              <a:t>I would be most obliged if you could provide your valuable feedback, as it would assist me in improving my contributions.</a:t>
            </a:r>
          </a:p>
        </p:txBody>
      </p:sp>
      <p:sp>
        <p:nvSpPr>
          <p:cNvPr id="4" name="Footer Placeholder 3"/>
          <p:cNvSpPr>
            <a:spLocks noGrp="1"/>
          </p:cNvSpPr>
          <p:nvPr>
            <p:ph type="ftr" sz="quarter" idx="11"/>
          </p:nvPr>
        </p:nvSpPr>
        <p:spPr/>
        <p:txBody>
          <a:bodyPr/>
          <a:lstStyle/>
          <a:p>
            <a:r>
              <a:rPr lang="en-US" dirty="0"/>
              <a:t>MS Thesis Report Final Presentation</a:t>
            </a:r>
          </a:p>
        </p:txBody>
      </p:sp>
      <p:sp>
        <p:nvSpPr>
          <p:cNvPr id="5" name="Slide Number Placeholder 4"/>
          <p:cNvSpPr>
            <a:spLocks noGrp="1"/>
          </p:cNvSpPr>
          <p:nvPr>
            <p:ph type="sldNum" sz="quarter" idx="12"/>
          </p:nvPr>
        </p:nvSpPr>
        <p:spPr/>
        <p:txBody>
          <a:bodyPr/>
          <a:lstStyle/>
          <a:p>
            <a:fld id="{455776AC-4C38-4B11-8F6F-86E3449187BD}" type="slidenum">
              <a:rPr lang="en-US" smtClean="0"/>
              <a:t>27</a:t>
            </a:fld>
            <a:endParaRPr lang="en-US"/>
          </a:p>
        </p:txBody>
      </p:sp>
      <p:sp>
        <p:nvSpPr>
          <p:cNvPr id="6" name="Date Placeholder 5"/>
          <p:cNvSpPr>
            <a:spLocks noGrp="1"/>
          </p:cNvSpPr>
          <p:nvPr>
            <p:ph type="dt" sz="half" idx="10"/>
          </p:nvPr>
        </p:nvSpPr>
        <p:spPr/>
        <p:txBody>
          <a:bodyPr/>
          <a:lstStyle/>
          <a:p>
            <a:fld id="{B4BD5825-E33A-4B7C-9580-23719C79F197}" type="datetime1">
              <a:rPr lang="en-US" smtClean="0"/>
              <a:t>1/23/2026</a:t>
            </a:fld>
            <a:endParaRPr lang="en-US"/>
          </a:p>
        </p:txBody>
      </p:sp>
    </p:spTree>
    <p:extLst>
      <p:ext uri="{BB962C8B-B14F-4D97-AF65-F5344CB8AC3E}">
        <p14:creationId xmlns:p14="http://schemas.microsoft.com/office/powerpoint/2010/main" val="23075618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2156</TotalTime>
  <Words>2012</Words>
  <Application>Microsoft Office PowerPoint</Application>
  <PresentationFormat>On-screen Show (4:3)</PresentationFormat>
  <Paragraphs>422</Paragraphs>
  <Slides>27</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Times New Roman</vt:lpstr>
      <vt:lpstr>Wingdings</vt:lpstr>
      <vt:lpstr>Office Theme</vt:lpstr>
      <vt:lpstr>Quantum Computing vs Classical computers: A Theoretical and Empirical Study of Performance, Reliability, and Sustainability </vt:lpstr>
      <vt:lpstr>Continuation* from Previous…</vt:lpstr>
      <vt:lpstr>Limitations</vt:lpstr>
      <vt:lpstr>Motivation</vt:lpstr>
      <vt:lpstr>Methodology</vt:lpstr>
      <vt:lpstr>Findings</vt:lpstr>
      <vt:lpstr>Findings</vt:lpstr>
      <vt:lpstr>Results (Reliability of Simon’s Birthday Paradox)</vt:lpstr>
      <vt:lpstr>Results (Reliability of Quantum Annealing)</vt:lpstr>
      <vt:lpstr>Overall Results (Quantum Annealing Algo)</vt:lpstr>
      <vt:lpstr>Overall Results (All Algorithms)</vt:lpstr>
      <vt:lpstr>Overall Results (All Algorithms) Cont…</vt:lpstr>
      <vt:lpstr>Overall Results (All Algorithms)</vt:lpstr>
      <vt:lpstr>Overall Results (All Methods)</vt:lpstr>
      <vt:lpstr>Overall Results (All Methods)</vt:lpstr>
      <vt:lpstr>Overall Results (All Algorithms)</vt:lpstr>
      <vt:lpstr>Overall Results (All Methods)</vt:lpstr>
      <vt:lpstr>Final Findings (Algorithms)</vt:lpstr>
      <vt:lpstr>Final Findings (Methods)</vt:lpstr>
      <vt:lpstr>Final Findings (Overall)</vt:lpstr>
      <vt:lpstr>What the Results Show?</vt:lpstr>
      <vt:lpstr>Conclusion</vt:lpstr>
      <vt:lpstr>Final Message</vt:lpstr>
      <vt:lpstr>Final Message</vt:lpstr>
      <vt:lpstr>Final Message</vt:lpstr>
      <vt:lpstr>Future Work</vt:lpstr>
      <vt:lpstr>Please Give Your 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Naveed</dc:creator>
  <cp:lastModifiedBy>Hp</cp:lastModifiedBy>
  <cp:revision>146</cp:revision>
  <dcterms:created xsi:type="dcterms:W3CDTF">2020-01-31T10:04:41Z</dcterms:created>
  <dcterms:modified xsi:type="dcterms:W3CDTF">2026-01-23T15:03:16Z</dcterms:modified>
</cp:coreProperties>
</file>